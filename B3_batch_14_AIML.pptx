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01" r:id="rId1"/>
    <p:sldMasterId id="2147483713" r:id="rId2"/>
  </p:sldMasterIdLst>
  <p:notesMasterIdLst>
    <p:notesMasterId r:id="rId21"/>
  </p:notesMasterIdLst>
  <p:sldIdLst>
    <p:sldId id="275" r:id="rId3"/>
    <p:sldId id="302" r:id="rId4"/>
    <p:sldId id="257" r:id="rId5"/>
    <p:sldId id="298" r:id="rId6"/>
    <p:sldId id="285" r:id="rId7"/>
    <p:sldId id="299" r:id="rId8"/>
    <p:sldId id="300" r:id="rId9"/>
    <p:sldId id="303" r:id="rId10"/>
    <p:sldId id="261" r:id="rId11"/>
    <p:sldId id="297" r:id="rId12"/>
    <p:sldId id="288" r:id="rId13"/>
    <p:sldId id="290" r:id="rId14"/>
    <p:sldId id="269" r:id="rId15"/>
    <p:sldId id="270" r:id="rId16"/>
    <p:sldId id="271" r:id="rId17"/>
    <p:sldId id="291" r:id="rId18"/>
    <p:sldId id="304" r:id="rId19"/>
    <p:sldId id="284" r:id="rId20"/>
  </p:sldIdLst>
  <p:sldSz cx="18288000" cy="10287000"/>
  <p:notesSz cx="6858000" cy="9144000"/>
  <p:embeddedFontLst>
    <p:embeddedFont>
      <p:font typeface="Poppins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F3223EC-21E7-4224-A334-3B2D59C0DD5D}">
          <p14:sldIdLst/>
        </p14:section>
        <p14:section name="Untitled Section" id="{224CA137-8660-4475-8611-4A854F07B189}">
          <p14:sldIdLst>
            <p14:sldId id="275"/>
            <p14:sldId id="302"/>
            <p14:sldId id="257"/>
            <p14:sldId id="298"/>
            <p14:sldId id="285"/>
            <p14:sldId id="299"/>
            <p14:sldId id="300"/>
            <p14:sldId id="303"/>
            <p14:sldId id="261"/>
            <p14:sldId id="297"/>
            <p14:sldId id="288"/>
            <p14:sldId id="290"/>
            <p14:sldId id="269"/>
            <p14:sldId id="270"/>
            <p14:sldId id="271"/>
            <p14:sldId id="291"/>
            <p14:sldId id="304"/>
            <p14:sldId id="28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0534" autoAdjust="0"/>
  </p:normalViewPr>
  <p:slideViewPr>
    <p:cSldViewPr>
      <p:cViewPr varScale="1">
        <p:scale>
          <a:sx n="54" d="100"/>
          <a:sy n="54" d="100"/>
        </p:scale>
        <p:origin x="782"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C9A090-0908-4DBE-913D-FF38DAFBC8C7}" type="datetimeFigureOut">
              <a:rPr lang="en-IN" smtClean="0"/>
              <a:t>17-04-2026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6F1723-C22A-4DC6-8ECC-17D2417E6B8F}" type="slidenum">
              <a:rPr lang="en-IN" smtClean="0"/>
              <a:t>‹#›</a:t>
            </a:fld>
            <a:endParaRPr lang="en-IN"/>
          </a:p>
        </p:txBody>
      </p:sp>
    </p:spTree>
    <p:extLst>
      <p:ext uri="{BB962C8B-B14F-4D97-AF65-F5344CB8AC3E}">
        <p14:creationId xmlns:p14="http://schemas.microsoft.com/office/powerpoint/2010/main" val="2493395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406F1723-C22A-4DC6-8ECC-17D2417E6B8F}" type="slidenum">
              <a:rPr lang="en-IN" smtClean="0"/>
              <a:t>5</a:t>
            </a:fld>
            <a:endParaRPr lang="en-IN"/>
          </a:p>
        </p:txBody>
      </p:sp>
    </p:spTree>
    <p:extLst>
      <p:ext uri="{BB962C8B-B14F-4D97-AF65-F5344CB8AC3E}">
        <p14:creationId xmlns:p14="http://schemas.microsoft.com/office/powerpoint/2010/main" val="3889587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27DB6-51DB-7889-99A5-D0AA04909A94}"/>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IN"/>
          </a:p>
        </p:txBody>
      </p:sp>
      <p:sp>
        <p:nvSpPr>
          <p:cNvPr id="3" name="Subtitle 2">
            <a:extLst>
              <a:ext uri="{FF2B5EF4-FFF2-40B4-BE49-F238E27FC236}">
                <a16:creationId xmlns:a16="http://schemas.microsoft.com/office/drawing/2014/main" id="{237B4240-76B6-D293-57BA-A158C29E8D0C}"/>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D3DC853-A3DC-8ADA-5292-65EDF109EA7E}"/>
              </a:ext>
            </a:extLst>
          </p:cNvPr>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a:extLst>
              <a:ext uri="{FF2B5EF4-FFF2-40B4-BE49-F238E27FC236}">
                <a16:creationId xmlns:a16="http://schemas.microsoft.com/office/drawing/2014/main" id="{FAEEB762-C589-99EB-FD4B-5FA3E19880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5B18D3-25C2-0EF1-C976-4CE917DAB77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72485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8BA0D-1013-93DB-5CD2-3DB6ED3539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FDC671-AF24-A706-E074-064BF2AFD7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002407-AEB4-618F-73ED-EF7DFCC3A355}"/>
              </a:ext>
            </a:extLst>
          </p:cNvPr>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a:extLst>
              <a:ext uri="{FF2B5EF4-FFF2-40B4-BE49-F238E27FC236}">
                <a16:creationId xmlns:a16="http://schemas.microsoft.com/office/drawing/2014/main" id="{ECD3DAC2-F312-534A-BE8C-2B52759D9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4ED66C-6820-7215-5A81-D19651388DA7}"/>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48629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59F46-FE33-C46D-3CAE-4A53CA70425D}"/>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3978018-D482-E8D3-B02F-51106F1CA8AF}"/>
              </a:ext>
            </a:extLst>
          </p:cNvPr>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1AF2FE-3DC4-AB93-083E-3BFC5094EE72}"/>
              </a:ext>
            </a:extLst>
          </p:cNvPr>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a:extLst>
              <a:ext uri="{FF2B5EF4-FFF2-40B4-BE49-F238E27FC236}">
                <a16:creationId xmlns:a16="http://schemas.microsoft.com/office/drawing/2014/main" id="{6DDBC3F5-B591-967B-3E1E-98FFB7B78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7D12F9-B409-2099-9954-1055BDF54C6B}"/>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53566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22AEA-5901-6308-EA03-3EB17DA473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DEE96D-DA17-D11A-8219-D978DC07773C}"/>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6076F0-50A7-7269-11AB-FBBEDA31DF84}"/>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03BD3C7-4FD6-D81C-3C4A-5EDDF3417246}"/>
              </a:ext>
            </a:extLst>
          </p:cNvPr>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a:extLst>
              <a:ext uri="{FF2B5EF4-FFF2-40B4-BE49-F238E27FC236}">
                <a16:creationId xmlns:a16="http://schemas.microsoft.com/office/drawing/2014/main" id="{51C1C5F2-F725-386A-2001-0AD5DBB073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801FA4-AEA3-EE4F-C3FF-15DFE867341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58098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0C0EF-B87D-F716-40C3-BC26D6CBDB31}"/>
              </a:ext>
            </a:extLst>
          </p:cNvPr>
          <p:cNvSpPr>
            <a:spLocks noGrp="1"/>
          </p:cNvSpPr>
          <p:nvPr>
            <p:ph type="title"/>
          </p:nvPr>
        </p:nvSpPr>
        <p:spPr>
          <a:xfrm>
            <a:off x="1259682" y="547688"/>
            <a:ext cx="15773400" cy="198834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04E9084-55F8-DA36-B3A5-7FA5FC673484}"/>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a:extLst>
              <a:ext uri="{FF2B5EF4-FFF2-40B4-BE49-F238E27FC236}">
                <a16:creationId xmlns:a16="http://schemas.microsoft.com/office/drawing/2014/main" id="{8036712B-9184-FD6A-DD0B-4911DEA83BE5}"/>
              </a:ext>
            </a:extLst>
          </p:cNvPr>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EE44E1B-81F7-AC1F-5FB2-DB07048D3039}"/>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a:extLst>
              <a:ext uri="{FF2B5EF4-FFF2-40B4-BE49-F238E27FC236}">
                <a16:creationId xmlns:a16="http://schemas.microsoft.com/office/drawing/2014/main" id="{572C8E3F-C0B8-9076-578B-9AF1964F18A7}"/>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D238AFB-7BAB-FC6B-5A4A-67F8C25C2515}"/>
              </a:ext>
            </a:extLst>
          </p:cNvPr>
          <p:cNvSpPr>
            <a:spLocks noGrp="1"/>
          </p:cNvSpPr>
          <p:nvPr>
            <p:ph type="dt" sz="half" idx="10"/>
          </p:nvPr>
        </p:nvSpPr>
        <p:spPr/>
        <p:txBody>
          <a:bodyPr/>
          <a:lstStyle/>
          <a:p>
            <a:fld id="{1D8BD707-D9CF-40AE-B4C6-C98DA3205C09}" type="datetimeFigureOut">
              <a:rPr lang="en-US" smtClean="0"/>
              <a:pPr/>
              <a:t>4/17/2026</a:t>
            </a:fld>
            <a:endParaRPr lang="en-US"/>
          </a:p>
        </p:txBody>
      </p:sp>
      <p:sp>
        <p:nvSpPr>
          <p:cNvPr id="8" name="Footer Placeholder 7">
            <a:extLst>
              <a:ext uri="{FF2B5EF4-FFF2-40B4-BE49-F238E27FC236}">
                <a16:creationId xmlns:a16="http://schemas.microsoft.com/office/drawing/2014/main" id="{DAA615B5-1EE7-96E6-502D-CB332E4E17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5A1B48-8C45-EDDA-1A8B-6422C3B6A13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31665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7CC3C-0DB6-96F5-7425-7F097A677E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07E2216-A33B-2367-08CC-04DE0635A594}"/>
              </a:ext>
            </a:extLst>
          </p:cNvPr>
          <p:cNvSpPr>
            <a:spLocks noGrp="1"/>
          </p:cNvSpPr>
          <p:nvPr>
            <p:ph type="dt" sz="half" idx="10"/>
          </p:nvPr>
        </p:nvSpPr>
        <p:spPr/>
        <p:txBody>
          <a:bodyPr/>
          <a:lstStyle/>
          <a:p>
            <a:fld id="{1D8BD707-D9CF-40AE-B4C6-C98DA3205C09}" type="datetimeFigureOut">
              <a:rPr lang="en-US" smtClean="0"/>
              <a:pPr/>
              <a:t>4/17/2026</a:t>
            </a:fld>
            <a:endParaRPr lang="en-US"/>
          </a:p>
        </p:txBody>
      </p:sp>
      <p:sp>
        <p:nvSpPr>
          <p:cNvPr id="4" name="Footer Placeholder 3">
            <a:extLst>
              <a:ext uri="{FF2B5EF4-FFF2-40B4-BE49-F238E27FC236}">
                <a16:creationId xmlns:a16="http://schemas.microsoft.com/office/drawing/2014/main" id="{20230FC7-0BF4-8BD0-B2D0-D8C1515557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A7164C-B4E4-6D5D-FC61-0EEDD17EC10E}"/>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44777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51CBC0-01B9-58D1-0125-9014F0BEC415}"/>
              </a:ext>
            </a:extLst>
          </p:cNvPr>
          <p:cNvSpPr>
            <a:spLocks noGrp="1"/>
          </p:cNvSpPr>
          <p:nvPr>
            <p:ph type="dt" sz="half" idx="10"/>
          </p:nvPr>
        </p:nvSpPr>
        <p:spPr/>
        <p:txBody>
          <a:bodyPr/>
          <a:lstStyle/>
          <a:p>
            <a:fld id="{1D8BD707-D9CF-40AE-B4C6-C98DA3205C09}" type="datetimeFigureOut">
              <a:rPr lang="en-US" smtClean="0"/>
              <a:pPr/>
              <a:t>4/17/2026</a:t>
            </a:fld>
            <a:endParaRPr lang="en-US"/>
          </a:p>
        </p:txBody>
      </p:sp>
      <p:sp>
        <p:nvSpPr>
          <p:cNvPr id="3" name="Footer Placeholder 2">
            <a:extLst>
              <a:ext uri="{FF2B5EF4-FFF2-40B4-BE49-F238E27FC236}">
                <a16:creationId xmlns:a16="http://schemas.microsoft.com/office/drawing/2014/main" id="{144D2987-CDA3-4B95-9603-CE35D3D1A4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169B16-0698-C7B0-C746-4355091C79BB}"/>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58904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42788-A203-46B1-97C0-8D0D263CC7D9}"/>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3BF668-794D-77C1-B6B5-D4F4B4D889DE}"/>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FCDAC3A-0CE0-A2D3-6015-B5CD2F188AD3}"/>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CFDABE15-1B1D-4457-4EC5-D34105C753AE}"/>
              </a:ext>
            </a:extLst>
          </p:cNvPr>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a:extLst>
              <a:ext uri="{FF2B5EF4-FFF2-40B4-BE49-F238E27FC236}">
                <a16:creationId xmlns:a16="http://schemas.microsoft.com/office/drawing/2014/main" id="{FE1AE465-C7FF-3F17-B4AB-6177E7F2F0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9ADAF-9C8F-8BEA-7AEA-3B85C19AD244}"/>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07271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B03A7-391F-CD8F-FB61-A19F085DE840}"/>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7F0353-42B1-6369-C304-2C1A4E1A67D3}"/>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IN"/>
          </a:p>
        </p:txBody>
      </p:sp>
      <p:sp>
        <p:nvSpPr>
          <p:cNvPr id="4" name="Text Placeholder 3">
            <a:extLst>
              <a:ext uri="{FF2B5EF4-FFF2-40B4-BE49-F238E27FC236}">
                <a16:creationId xmlns:a16="http://schemas.microsoft.com/office/drawing/2014/main" id="{94F7777E-F7EF-424C-E513-1F6BE97DF353}"/>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D6260E21-0C39-48E4-C863-CABBD730ED56}"/>
              </a:ext>
            </a:extLst>
          </p:cNvPr>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a:extLst>
              <a:ext uri="{FF2B5EF4-FFF2-40B4-BE49-F238E27FC236}">
                <a16:creationId xmlns:a16="http://schemas.microsoft.com/office/drawing/2014/main" id="{3D4791DD-0D76-7D33-0E67-CC8A50643D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1E406D-AA6D-E8A5-094A-8BD6A20CE21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64701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8164-E2A0-A264-2ADC-C978BBDC5C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FD5160-6E3C-BFCB-002F-D584AB9110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D3A09D-E83F-2A08-429F-708AABF03E02}"/>
              </a:ext>
            </a:extLst>
          </p:cNvPr>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a:extLst>
              <a:ext uri="{FF2B5EF4-FFF2-40B4-BE49-F238E27FC236}">
                <a16:creationId xmlns:a16="http://schemas.microsoft.com/office/drawing/2014/main" id="{8812C322-9B97-D5A6-5C86-BAC4383B56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1E8781-DF72-E998-6EF0-180ACA76EFF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96717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82E758-160C-90EA-3C54-CF78F6A22D59}"/>
              </a:ext>
            </a:extLst>
          </p:cNvPr>
          <p:cNvSpPr>
            <a:spLocks noGrp="1"/>
          </p:cNvSpPr>
          <p:nvPr>
            <p:ph type="title" orient="vert"/>
          </p:nvPr>
        </p:nvSpPr>
        <p:spPr>
          <a:xfrm>
            <a:off x="13087350" y="547688"/>
            <a:ext cx="3943350" cy="871775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CBB2FA-F3CA-E1B9-8721-F6EA30F5CDD5}"/>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EA8971-7F1F-119F-DCD9-3AAFA0924C0F}"/>
              </a:ext>
            </a:extLst>
          </p:cNvPr>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a:extLst>
              <a:ext uri="{FF2B5EF4-FFF2-40B4-BE49-F238E27FC236}">
                <a16:creationId xmlns:a16="http://schemas.microsoft.com/office/drawing/2014/main" id="{8AC9160B-4103-CA68-CE53-6BDB21436C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CE60C4-3152-266A-B2B9-F6315C4255AE}"/>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739741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195638"/>
            <a:ext cx="15544800" cy="2205038"/>
          </a:xfrm>
        </p:spPr>
        <p:txBody>
          <a:bodyPr/>
          <a:lstStyle/>
          <a:p>
            <a:r>
              <a:rPr lang="en-US"/>
              <a:t>Click to edit Master title style</a:t>
            </a:r>
          </a:p>
        </p:txBody>
      </p:sp>
      <p:sp>
        <p:nvSpPr>
          <p:cNvPr id="3" name="Subtitle 2"/>
          <p:cNvSpPr>
            <a:spLocks noGrp="1"/>
          </p:cNvSpPr>
          <p:nvPr>
            <p:ph type="subTitle" idx="1"/>
          </p:nvPr>
        </p:nvSpPr>
        <p:spPr>
          <a:xfrm>
            <a:off x="2743200" y="5829300"/>
            <a:ext cx="12801600" cy="2628900"/>
          </a:xfrm>
        </p:spPr>
        <p:txBody>
          <a:bodyPr/>
          <a:lstStyle>
            <a:lvl1pPr marL="0" indent="0" algn="ctr">
              <a:buNone/>
              <a:defRPr>
                <a:solidFill>
                  <a:schemeClr val="tx1">
                    <a:tint val="75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AA04797-B579-40AF-8F83-E4702A9ED9FF}"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12633322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A04797-B579-40AF-8F83-E4702A9ED9FF}"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1587254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626" y="6610351"/>
            <a:ext cx="15544800" cy="2043113"/>
          </a:xfrm>
        </p:spPr>
        <p:txBody>
          <a:bodyPr anchor="t"/>
          <a:lstStyle>
            <a:lvl1pPr algn="l">
              <a:defRPr sz="6000" b="1" cap="all"/>
            </a:lvl1pPr>
          </a:lstStyle>
          <a:p>
            <a:r>
              <a:rPr lang="en-US"/>
              <a:t>Click to edit Master title style</a:t>
            </a:r>
          </a:p>
        </p:txBody>
      </p:sp>
      <p:sp>
        <p:nvSpPr>
          <p:cNvPr id="3" name="Text Placeholder 2"/>
          <p:cNvSpPr>
            <a:spLocks noGrp="1"/>
          </p:cNvSpPr>
          <p:nvPr>
            <p:ph type="body" idx="1"/>
          </p:nvPr>
        </p:nvSpPr>
        <p:spPr>
          <a:xfrm>
            <a:off x="1444626" y="4360070"/>
            <a:ext cx="15544800" cy="2250281"/>
          </a:xfrm>
        </p:spPr>
        <p:txBody>
          <a:bodyPr anchor="b"/>
          <a:lstStyle>
            <a:lvl1pPr marL="0" indent="0">
              <a:buNone/>
              <a:defRPr sz="3000">
                <a:solidFill>
                  <a:schemeClr val="tx1">
                    <a:tint val="7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A04797-B579-40AF-8F83-E4702A9ED9FF}"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11036170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2400301"/>
            <a:ext cx="8077200" cy="6788945"/>
          </a:xfrm>
        </p:spPr>
        <p:txBody>
          <a:bodyPr/>
          <a:lstStyle>
            <a:lvl1pPr>
              <a:defRPr sz="4200"/>
            </a:lvl1pPr>
            <a:lvl2pPr>
              <a:defRPr sz="3600"/>
            </a:lvl2pPr>
            <a:lvl3pPr>
              <a:defRPr sz="30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96400" y="2400301"/>
            <a:ext cx="8077200" cy="6788945"/>
          </a:xfrm>
        </p:spPr>
        <p:txBody>
          <a:bodyPr/>
          <a:lstStyle>
            <a:lvl1pPr>
              <a:defRPr sz="4200"/>
            </a:lvl1pPr>
            <a:lvl2pPr>
              <a:defRPr sz="3600"/>
            </a:lvl2pPr>
            <a:lvl3pPr>
              <a:defRPr sz="30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AA04797-B579-40AF-8F83-E4702A9ED9FF}"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40378389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2302670"/>
            <a:ext cx="8080376" cy="959643"/>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914400" y="3262313"/>
            <a:ext cx="8080376" cy="5926932"/>
          </a:xfrm>
        </p:spPr>
        <p:txBody>
          <a:bodyPr/>
          <a:lstStyle>
            <a:lvl1pPr>
              <a:defRPr sz="36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90051" y="2302670"/>
            <a:ext cx="8083550" cy="959643"/>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90051" y="3262313"/>
            <a:ext cx="8083550" cy="5926932"/>
          </a:xfrm>
        </p:spPr>
        <p:txBody>
          <a:bodyPr/>
          <a:lstStyle>
            <a:lvl1pPr>
              <a:defRPr sz="36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AA04797-B579-40AF-8F83-E4702A9ED9FF}"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2337298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AA04797-B579-40AF-8F83-E4702A9ED9FF}"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7179639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A04797-B579-40AF-8F83-E4702A9ED9FF}"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0753998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1" y="409575"/>
            <a:ext cx="6016626" cy="1743075"/>
          </a:xfrm>
        </p:spPr>
        <p:txBody>
          <a:bodyPr anchor="b"/>
          <a:lstStyle>
            <a:lvl1pPr algn="l">
              <a:defRPr sz="3000" b="1"/>
            </a:lvl1pPr>
          </a:lstStyle>
          <a:p>
            <a:r>
              <a:rPr lang="en-US"/>
              <a:t>Click to edit Master title style</a:t>
            </a:r>
          </a:p>
        </p:txBody>
      </p:sp>
      <p:sp>
        <p:nvSpPr>
          <p:cNvPr id="3" name="Content Placeholder 2"/>
          <p:cNvSpPr>
            <a:spLocks noGrp="1"/>
          </p:cNvSpPr>
          <p:nvPr>
            <p:ph idx="1"/>
          </p:nvPr>
        </p:nvSpPr>
        <p:spPr>
          <a:xfrm>
            <a:off x="7150100" y="409576"/>
            <a:ext cx="10223500" cy="8779670"/>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4401" y="2152651"/>
            <a:ext cx="6016626" cy="7036595"/>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EAA04797-B579-40AF-8F83-E4702A9ED9FF}"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4017014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84576" y="7200900"/>
            <a:ext cx="10972800" cy="850107"/>
          </a:xfrm>
        </p:spPr>
        <p:txBody>
          <a:bodyPr anchor="b"/>
          <a:lstStyle>
            <a:lvl1pPr algn="l">
              <a:defRPr sz="3000" b="1"/>
            </a:lvl1pPr>
          </a:lstStyle>
          <a:p>
            <a:r>
              <a:rPr lang="en-US"/>
              <a:t>Click to edit Master title style</a:t>
            </a:r>
          </a:p>
        </p:txBody>
      </p:sp>
      <p:sp>
        <p:nvSpPr>
          <p:cNvPr id="3" name="Picture Placeholder 2"/>
          <p:cNvSpPr>
            <a:spLocks noGrp="1"/>
          </p:cNvSpPr>
          <p:nvPr>
            <p:ph type="pic" idx="1"/>
          </p:nvPr>
        </p:nvSpPr>
        <p:spPr>
          <a:xfrm>
            <a:off x="3584576" y="919163"/>
            <a:ext cx="10972800" cy="6172200"/>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US"/>
          </a:p>
        </p:txBody>
      </p:sp>
      <p:sp>
        <p:nvSpPr>
          <p:cNvPr id="4" name="Text Placeholder 3"/>
          <p:cNvSpPr>
            <a:spLocks noGrp="1"/>
          </p:cNvSpPr>
          <p:nvPr>
            <p:ph type="body" sz="half" idx="2"/>
          </p:nvPr>
        </p:nvSpPr>
        <p:spPr>
          <a:xfrm>
            <a:off x="3584576" y="8051007"/>
            <a:ext cx="10972800" cy="1207293"/>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EAA04797-B579-40AF-8F83-E4702A9ED9FF}"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8092787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A04797-B579-40AF-8F83-E4702A9ED9FF}"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13148646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8800" y="411958"/>
            <a:ext cx="4114800" cy="87772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411958"/>
            <a:ext cx="12039600" cy="87772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A04797-B579-40AF-8F83-E4702A9ED9FF}"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4084398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703BA5-48F9-56C6-5A14-81DC0EA6C368}"/>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9596EC-E8C6-E449-8272-341430088C3B}"/>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D45BBC-42D0-132B-513F-9FEB211F7724}"/>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1D8BD707-D9CF-40AE-B4C6-C98DA3205C09}" type="datetimeFigureOut">
              <a:rPr lang="en-US" smtClean="0"/>
              <a:pPr/>
              <a:t>4/17/2026</a:t>
            </a:fld>
            <a:endParaRPr lang="en-US"/>
          </a:p>
        </p:txBody>
      </p:sp>
      <p:sp>
        <p:nvSpPr>
          <p:cNvPr id="5" name="Footer Placeholder 4">
            <a:extLst>
              <a:ext uri="{FF2B5EF4-FFF2-40B4-BE49-F238E27FC236}">
                <a16:creationId xmlns:a16="http://schemas.microsoft.com/office/drawing/2014/main" id="{83B69F63-47CB-4AE2-878A-C043FEDFFC66}"/>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0036FF-9528-B8EE-F1EB-0228EFCEC60F}"/>
              </a:ext>
            </a:extLst>
          </p:cNvPr>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64079859"/>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411957"/>
            <a:ext cx="16459200" cy="17145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4400" y="2400301"/>
            <a:ext cx="16459200" cy="67889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14400" y="9534526"/>
            <a:ext cx="42672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EAA04797-B579-40AF-8F83-E4702A9ED9FF}" type="datetimeFigureOut">
              <a:rPr lang="en-US" smtClean="0"/>
              <a:t>4/17/2026</a:t>
            </a:fld>
            <a:endParaRPr lang="en-US"/>
          </a:p>
        </p:txBody>
      </p:sp>
      <p:sp>
        <p:nvSpPr>
          <p:cNvPr id="5" name="Footer Placeholder 4"/>
          <p:cNvSpPr>
            <a:spLocks noGrp="1"/>
          </p:cNvSpPr>
          <p:nvPr>
            <p:ph type="ftr" sz="quarter" idx="3"/>
          </p:nvPr>
        </p:nvSpPr>
        <p:spPr>
          <a:xfrm>
            <a:off x="6248400" y="9534526"/>
            <a:ext cx="5791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3106400" y="9534526"/>
            <a:ext cx="42672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79D9D178-02C0-4294-8602-787D7B816A54}" type="slidenum">
              <a:rPr lang="en-US" smtClean="0"/>
              <a:t>‹#›</a:t>
            </a:fld>
            <a:endParaRPr lang="en-US"/>
          </a:p>
        </p:txBody>
      </p:sp>
    </p:spTree>
    <p:extLst>
      <p:ext uri="{BB962C8B-B14F-4D97-AF65-F5344CB8AC3E}">
        <p14:creationId xmlns:p14="http://schemas.microsoft.com/office/powerpoint/2010/main" val="1312729948"/>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ctr" defTabSz="1371600" rtl="0" eaLnBrk="1" latinLnBrk="0" hangingPunct="1">
        <a:spcBef>
          <a:spcPct val="0"/>
        </a:spcBef>
        <a:buNone/>
        <a:defRPr sz="6600" kern="1200">
          <a:solidFill>
            <a:schemeClr val="tx1"/>
          </a:solidFill>
          <a:latin typeface="+mj-lt"/>
          <a:ea typeface="+mj-ea"/>
          <a:cs typeface="+mj-cs"/>
        </a:defRPr>
      </a:lvl1pPr>
    </p:titleStyle>
    <p:bodyStyle>
      <a:lvl1pPr marL="514350" indent="-514350" algn="l" defTabSz="1371600" rtl="0" eaLnBrk="1" latinLnBrk="0" hangingPunct="1">
        <a:spcBef>
          <a:spcPct val="20000"/>
        </a:spcBef>
        <a:buFont typeface="Arial" panose="020B0604020202020204" pitchFamily="34" charset="0"/>
        <a:buChar char="•"/>
        <a:defRPr sz="4800" kern="1200">
          <a:solidFill>
            <a:schemeClr val="tx1"/>
          </a:solidFill>
          <a:latin typeface="+mn-lt"/>
          <a:ea typeface="+mn-ea"/>
          <a:cs typeface="+mn-cs"/>
        </a:defRPr>
      </a:lvl1pPr>
      <a:lvl2pPr marL="1114425" indent="-428625" algn="l" defTabSz="1371600" rtl="0" eaLnBrk="1" latinLnBrk="0" hangingPunct="1">
        <a:spcBef>
          <a:spcPct val="20000"/>
        </a:spcBef>
        <a:buFont typeface="Arial" panose="020B0604020202020204" pitchFamily="34" charset="0"/>
        <a:buChar char="–"/>
        <a:defRPr sz="4200" kern="1200">
          <a:solidFill>
            <a:schemeClr val="tx1"/>
          </a:solidFill>
          <a:latin typeface="+mn-lt"/>
          <a:ea typeface="+mn-ea"/>
          <a:cs typeface="+mn-cs"/>
        </a:defRPr>
      </a:lvl2pPr>
      <a:lvl3pPr marL="1714500" indent="-342900" algn="l" defTabSz="1371600"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3pPr>
      <a:lvl4pPr marL="2400300" indent="-342900" algn="l" defTabSz="13716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4pPr>
      <a:lvl5pPr marL="3086100" indent="-342900" algn="l" defTabSz="13716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5pPr>
      <a:lvl6pPr marL="3771900" indent="-342900" algn="l" defTabSz="13716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6pPr>
      <a:lvl7pPr marL="4457700" indent="-342900" algn="l" defTabSz="13716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7pPr>
      <a:lvl8pPr marL="5143500" indent="-342900" algn="l" defTabSz="13716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8pPr>
      <a:lvl9pPr marL="5829300" indent="-342900" algn="l" defTabSz="13716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8720" y="142992"/>
            <a:ext cx="14630400" cy="2628900"/>
          </a:xfrm>
        </p:spPr>
        <p:txBody>
          <a:bodyPr>
            <a:normAutofit fontScale="90000"/>
          </a:bodyPr>
          <a:lstStyle/>
          <a:p>
            <a:pPr algn="ctr"/>
            <a:r>
              <a:rPr lang="en-IN" sz="3000" dirty="0">
                <a:latin typeface="Times New Roman" panose="02020603050405020304" pitchFamily="18" charset="0"/>
                <a:cs typeface="Times New Roman" panose="02020603050405020304" pitchFamily="18" charset="0"/>
              </a:rPr>
              <a:t>A Project abstract presentation </a:t>
            </a:r>
            <a:br>
              <a:rPr lang="en-IN" sz="3000" dirty="0">
                <a:latin typeface="Times New Roman" panose="02020603050405020304" pitchFamily="18" charset="0"/>
                <a:cs typeface="Times New Roman" panose="02020603050405020304" pitchFamily="18" charset="0"/>
              </a:rPr>
            </a:br>
            <a:r>
              <a:rPr lang="en-IN" sz="3000" dirty="0">
                <a:latin typeface="Times New Roman" panose="02020603050405020304" pitchFamily="18" charset="0"/>
                <a:cs typeface="Times New Roman" panose="02020603050405020304" pitchFamily="18" charset="0"/>
              </a:rPr>
              <a:t>on</a:t>
            </a:r>
            <a:br>
              <a:rPr lang="en-IN" sz="4800" b="1" dirty="0">
                <a:latin typeface="Times New Roman" panose="02020603050405020304" pitchFamily="18" charset="0"/>
                <a:cs typeface="Times New Roman" panose="02020603050405020304" pitchFamily="18" charset="0"/>
              </a:rPr>
            </a:br>
            <a:r>
              <a:rPr lang="en-US" sz="5400" b="1" dirty="0"/>
              <a:t>A Deep Siamese Framework for Predicting Harmful Drug Interactions</a:t>
            </a:r>
            <a:br>
              <a:rPr lang="en-US" dirty="0"/>
            </a:br>
            <a:endParaRPr lang="en-IN" sz="39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628901" y="7538525"/>
            <a:ext cx="7457171" cy="2286000"/>
          </a:xfrm>
        </p:spPr>
        <p:txBody>
          <a:bodyPr>
            <a:normAutofit fontScale="25000" lnSpcReduction="20000"/>
          </a:bodyPr>
          <a:lstStyle/>
          <a:p>
            <a:pPr marL="0" indent="0">
              <a:buNone/>
            </a:pPr>
            <a:endParaRPr lang="en-IN" sz="3000" b="1" dirty="0">
              <a:solidFill>
                <a:srgbClr val="0070C0"/>
              </a:solidFill>
              <a:latin typeface="Times New Roman" panose="02020603050405020304" pitchFamily="18" charset="0"/>
              <a:cs typeface="Times New Roman" panose="02020603050405020304" pitchFamily="18" charset="0"/>
            </a:endParaRPr>
          </a:p>
          <a:p>
            <a:pPr marL="0" indent="0">
              <a:buNone/>
            </a:pPr>
            <a:r>
              <a:rPr lang="en-IN" sz="12000" b="1" dirty="0">
                <a:solidFill>
                  <a:srgbClr val="0070C0"/>
                </a:solidFill>
                <a:latin typeface="Times New Roman" panose="02020603050405020304" pitchFamily="18" charset="0"/>
                <a:cs typeface="Times New Roman" panose="02020603050405020304" pitchFamily="18" charset="0"/>
              </a:rPr>
              <a:t>Under the guidance of		</a:t>
            </a:r>
            <a:endParaRPr lang="en-IN" sz="12000" b="1" dirty="0">
              <a:solidFill>
                <a:srgbClr val="C00000"/>
              </a:solidFill>
              <a:latin typeface="Times New Roman" panose="02020603050405020304" pitchFamily="18" charset="0"/>
              <a:cs typeface="Times New Roman" panose="02020603050405020304" pitchFamily="18" charset="0"/>
            </a:endParaRPr>
          </a:p>
          <a:p>
            <a:pPr marL="0" indent="0">
              <a:buNone/>
            </a:pPr>
            <a:r>
              <a:rPr lang="en-IN" sz="12000" b="1" dirty="0">
                <a:solidFill>
                  <a:srgbClr val="C00000"/>
                </a:solidFill>
                <a:latin typeface="Times New Roman" panose="02020603050405020304" pitchFamily="18" charset="0"/>
                <a:cs typeface="Times New Roman" panose="02020603050405020304" pitchFamily="18" charset="0"/>
              </a:rPr>
              <a:t>Ms. K. Harika,</a:t>
            </a:r>
          </a:p>
          <a:p>
            <a:pPr marL="0" indent="0">
              <a:buNone/>
            </a:pPr>
            <a:r>
              <a:rPr lang="en-IN" sz="12000" b="1" dirty="0">
                <a:solidFill>
                  <a:srgbClr val="C00000"/>
                </a:solidFill>
                <a:latin typeface="Times New Roman" panose="02020603050405020304" pitchFamily="18" charset="0"/>
                <a:cs typeface="Times New Roman" panose="02020603050405020304" pitchFamily="18" charset="0"/>
              </a:rPr>
              <a:t>Assistant Professor,</a:t>
            </a:r>
          </a:p>
          <a:p>
            <a:pPr marL="0" indent="0">
              <a:buNone/>
            </a:pPr>
            <a:r>
              <a:rPr lang="en-IN" sz="12000" b="1" dirty="0">
                <a:solidFill>
                  <a:srgbClr val="C00000"/>
                </a:solidFill>
                <a:latin typeface="Times New Roman" panose="02020603050405020304" pitchFamily="18" charset="0"/>
                <a:cs typeface="Times New Roman" panose="02020603050405020304" pitchFamily="18" charset="0"/>
              </a:rPr>
              <a:t>Dept. of CSE-AIML.</a:t>
            </a:r>
          </a:p>
        </p:txBody>
      </p:sp>
      <p:sp>
        <p:nvSpPr>
          <p:cNvPr id="5" name="TextBox 4"/>
          <p:cNvSpPr txBox="1"/>
          <p:nvPr/>
        </p:nvSpPr>
        <p:spPr>
          <a:xfrm>
            <a:off x="2362200" y="2467799"/>
            <a:ext cx="14401800" cy="2862322"/>
          </a:xfrm>
          <a:prstGeom prst="rect">
            <a:avLst/>
          </a:prstGeom>
          <a:noFill/>
        </p:spPr>
        <p:txBody>
          <a:bodyPr wrap="square" rtlCol="0">
            <a:spAutoFit/>
          </a:bodyPr>
          <a:lstStyle/>
          <a:p>
            <a:pPr algn="ctr"/>
            <a:r>
              <a:rPr lang="en-IN" sz="3000" b="1" dirty="0">
                <a:solidFill>
                  <a:srgbClr val="C00000"/>
                </a:solidFill>
                <a:latin typeface="Times New Roman" panose="02020603050405020304" pitchFamily="18" charset="0"/>
                <a:cs typeface="Times New Roman" panose="02020603050405020304" pitchFamily="18" charset="0"/>
              </a:rPr>
              <a:t>Presented by CSE(AIML)B3 Batch-14</a:t>
            </a:r>
          </a:p>
          <a:p>
            <a:pPr algn="just"/>
            <a:r>
              <a:rPr lang="en-IN" sz="3000" b="1" dirty="0">
                <a:solidFill>
                  <a:srgbClr val="C00000"/>
                </a:solidFill>
                <a:latin typeface="Times New Roman" panose="02020603050405020304" pitchFamily="18" charset="0"/>
                <a:cs typeface="Times New Roman" panose="02020603050405020304" pitchFamily="18" charset="0"/>
              </a:rPr>
              <a:t>	 S. BHAVANI SHANKAR 	                           22101A010169</a:t>
            </a:r>
          </a:p>
          <a:p>
            <a:pPr algn="just"/>
            <a:r>
              <a:rPr lang="en-IN" sz="3000" b="1" dirty="0">
                <a:solidFill>
                  <a:srgbClr val="C00000"/>
                </a:solidFill>
                <a:latin typeface="Times New Roman" panose="02020603050405020304" pitchFamily="18" charset="0"/>
                <a:cs typeface="Times New Roman" panose="02020603050405020304" pitchFamily="18" charset="0"/>
              </a:rPr>
              <a:t>	 A. PALLAVI 	 			                  22101A010201</a:t>
            </a:r>
          </a:p>
          <a:p>
            <a:pPr algn="just"/>
            <a:r>
              <a:rPr lang="en-IN" sz="3000" b="1" dirty="0">
                <a:solidFill>
                  <a:srgbClr val="C00000"/>
                </a:solidFill>
                <a:latin typeface="Times New Roman" panose="02020603050405020304" pitchFamily="18" charset="0"/>
                <a:cs typeface="Times New Roman" panose="02020603050405020304" pitchFamily="18" charset="0"/>
              </a:rPr>
              <a:t>	 V. NAGA PRAVEENA 	 		        22101A010182</a:t>
            </a:r>
          </a:p>
          <a:p>
            <a:pPr algn="just"/>
            <a:r>
              <a:rPr lang="en-IN" sz="3000" b="1" dirty="0">
                <a:solidFill>
                  <a:srgbClr val="C00000"/>
                </a:solidFill>
                <a:latin typeface="Times New Roman" panose="02020603050405020304" pitchFamily="18" charset="0"/>
                <a:cs typeface="Times New Roman" panose="02020603050405020304" pitchFamily="18" charset="0"/>
              </a:rPr>
              <a:t>           M JAYAPRAKASH REDDY 		        22101A010244</a:t>
            </a:r>
          </a:p>
          <a:p>
            <a:r>
              <a:rPr lang="en-US" sz="3000" b="1" dirty="0">
                <a:solidFill>
                  <a:srgbClr val="FF0000"/>
                </a:solidFill>
                <a:latin typeface="Times New Roman" panose="02020603050405020304" pitchFamily="18" charset="0"/>
                <a:cs typeface="Times New Roman" panose="02020603050405020304" pitchFamily="18" charset="0"/>
              </a:rPr>
              <a:t> </a:t>
            </a:r>
          </a:p>
        </p:txBody>
      </p:sp>
      <p:sp>
        <p:nvSpPr>
          <p:cNvPr id="7" name="Rectangle 6"/>
          <p:cNvSpPr/>
          <p:nvPr/>
        </p:nvSpPr>
        <p:spPr>
          <a:xfrm>
            <a:off x="10858500" y="7806953"/>
            <a:ext cx="6286500" cy="1971437"/>
          </a:xfrm>
          <a:prstGeom prst="rect">
            <a:avLst/>
          </a:prstGeom>
        </p:spPr>
        <p:txBody>
          <a:bodyPr wrap="square">
            <a:spAutoFit/>
          </a:bodyPr>
          <a:lstStyle/>
          <a:p>
            <a:pPr defTabSz="1371600">
              <a:lnSpc>
                <a:spcPct val="70000"/>
              </a:lnSpc>
              <a:spcBef>
                <a:spcPts val="1500"/>
              </a:spcBef>
            </a:pPr>
            <a:r>
              <a:rPr lang="en-IN" sz="3000" b="1" dirty="0">
                <a:solidFill>
                  <a:srgbClr val="0070C0"/>
                </a:solidFill>
                <a:latin typeface="Times New Roman" panose="02020603050405020304" pitchFamily="18" charset="0"/>
                <a:cs typeface="Times New Roman" panose="02020603050405020304" pitchFamily="18" charset="0"/>
              </a:rPr>
              <a:t>Program Head</a:t>
            </a:r>
          </a:p>
          <a:p>
            <a:pPr defTabSz="1371600">
              <a:lnSpc>
                <a:spcPct val="70000"/>
              </a:lnSpc>
              <a:spcBef>
                <a:spcPts val="1500"/>
              </a:spcBef>
              <a:buClr>
                <a:srgbClr val="C00000"/>
              </a:buClr>
              <a:buSzPts val="2000"/>
            </a:pPr>
            <a:r>
              <a:rPr lang="en-GB" sz="3000" b="1" dirty="0">
                <a:solidFill>
                  <a:srgbClr val="C00000"/>
                </a:solidFill>
                <a:latin typeface="Times New Roman" panose="02020603050405020304" pitchFamily="18" charset="0"/>
                <a:cs typeface="Times New Roman" panose="02020603050405020304" pitchFamily="18" charset="0"/>
                <a:sym typeface="Times New Roman" panose="02020603050405020304"/>
              </a:rPr>
              <a:t>Dr. G. </a:t>
            </a:r>
            <a:r>
              <a:rPr lang="en-GB" sz="3000" b="1">
                <a:solidFill>
                  <a:srgbClr val="C00000"/>
                </a:solidFill>
                <a:latin typeface="Times New Roman" panose="02020603050405020304" pitchFamily="18" charset="0"/>
                <a:cs typeface="Times New Roman" panose="02020603050405020304" pitchFamily="18" charset="0"/>
                <a:sym typeface="Times New Roman" panose="02020603050405020304"/>
              </a:rPr>
              <a:t>Sunitha,</a:t>
            </a:r>
            <a:endParaRPr lang="en-GB" sz="3000" b="1" dirty="0">
              <a:solidFill>
                <a:srgbClr val="C00000"/>
              </a:solidFill>
              <a:latin typeface="Times New Roman" panose="02020603050405020304" pitchFamily="18" charset="0"/>
              <a:cs typeface="Times New Roman" panose="02020603050405020304" pitchFamily="18" charset="0"/>
              <a:sym typeface="Times New Roman" panose="02020603050405020304"/>
            </a:endParaRPr>
          </a:p>
          <a:p>
            <a:pPr defTabSz="1371600">
              <a:lnSpc>
                <a:spcPct val="70000"/>
              </a:lnSpc>
              <a:spcBef>
                <a:spcPts val="1500"/>
              </a:spcBef>
              <a:buClr>
                <a:srgbClr val="C00000"/>
              </a:buClr>
              <a:buSzPts val="2000"/>
            </a:pPr>
            <a:r>
              <a:rPr lang="en-GB" sz="3000" b="1" dirty="0">
                <a:solidFill>
                  <a:srgbClr val="C00000"/>
                </a:solidFill>
                <a:latin typeface="Times New Roman" panose="02020603050405020304" pitchFamily="18" charset="0"/>
                <a:cs typeface="Times New Roman" panose="02020603050405020304" pitchFamily="18" charset="0"/>
                <a:sym typeface="Times New Roman" panose="02020603050405020304"/>
              </a:rPr>
              <a:t>Professor &amp; Head, </a:t>
            </a:r>
          </a:p>
          <a:p>
            <a:pPr defTabSz="1371600">
              <a:lnSpc>
                <a:spcPct val="70000"/>
              </a:lnSpc>
              <a:spcBef>
                <a:spcPts val="1500"/>
              </a:spcBef>
              <a:buClr>
                <a:srgbClr val="C00000"/>
              </a:buClr>
              <a:buSzPts val="2000"/>
            </a:pPr>
            <a:r>
              <a:rPr lang="en-GB" sz="3000" b="1" dirty="0">
                <a:solidFill>
                  <a:srgbClr val="C00000"/>
                </a:solidFill>
                <a:latin typeface="Times New Roman" panose="02020603050405020304" pitchFamily="18" charset="0"/>
                <a:cs typeface="Times New Roman" panose="02020603050405020304" pitchFamily="18" charset="0"/>
                <a:sym typeface="Times New Roman" panose="02020603050405020304"/>
              </a:rPr>
              <a:t>Dept. of CSE-AIML.</a:t>
            </a:r>
          </a:p>
        </p:txBody>
      </p:sp>
      <p:sp>
        <p:nvSpPr>
          <p:cNvPr id="12" name="Rectangle 11"/>
          <p:cNvSpPr/>
          <p:nvPr/>
        </p:nvSpPr>
        <p:spPr>
          <a:xfrm>
            <a:off x="3124023" y="6837455"/>
            <a:ext cx="12580797" cy="692497"/>
          </a:xfrm>
          <a:prstGeom prst="rect">
            <a:avLst/>
          </a:prstGeom>
        </p:spPr>
        <p:txBody>
          <a:bodyPr wrap="square">
            <a:spAutoFit/>
          </a:bodyPr>
          <a:lstStyle/>
          <a:p>
            <a:pPr algn="ctr"/>
            <a:r>
              <a:rPr lang="en-IN" sz="3900" b="1" dirty="0">
                <a:solidFill>
                  <a:srgbClr val="00B050"/>
                </a:solidFill>
                <a:latin typeface="Times New Roman" panose="02020603050405020304" pitchFamily="18" charset="0"/>
                <a:cs typeface="Times New Roman" panose="02020603050405020304" pitchFamily="18" charset="0"/>
              </a:rPr>
              <a:t>COMPUTER SCIENCE AND ENGINEERING (AIML)</a:t>
            </a:r>
          </a:p>
        </p:txBody>
      </p:sp>
      <p:pic>
        <p:nvPicPr>
          <p:cNvPr id="4" name="Picture 2" descr="Logo">
            <a:extLst>
              <a:ext uri="{FF2B5EF4-FFF2-40B4-BE49-F238E27FC236}">
                <a16:creationId xmlns:a16="http://schemas.microsoft.com/office/drawing/2014/main" id="{8A70B4E1-65CB-3AFB-860A-258888E1BC48}"/>
              </a:ext>
            </a:extLst>
          </p:cNvPr>
          <p:cNvPicPr>
            <a:picLocks noChangeAspect="1" noChangeArrowheads="1"/>
          </p:cNvPicPr>
          <p:nvPr/>
        </p:nvPicPr>
        <p:blipFill>
          <a:blip r:embed="rId2"/>
          <a:srcRect/>
          <a:stretch>
            <a:fillRect/>
          </a:stretch>
        </p:blipFill>
        <p:spPr bwMode="auto">
          <a:xfrm>
            <a:off x="7221421" y="5167312"/>
            <a:ext cx="2864651" cy="1432326"/>
          </a:xfrm>
          <a:prstGeom prst="rect">
            <a:avLst/>
          </a:prstGeom>
          <a:noFill/>
        </p:spPr>
      </p:pic>
    </p:spTree>
    <p:extLst>
      <p:ext uri="{BB962C8B-B14F-4D97-AF65-F5344CB8AC3E}">
        <p14:creationId xmlns:p14="http://schemas.microsoft.com/office/powerpoint/2010/main" val="2731821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FFB1E53A-3CFD-AC4E-5C02-B8456A6C4255}"/>
              </a:ext>
            </a:extLst>
          </p:cNvPr>
          <p:cNvGrpSpPr/>
          <p:nvPr/>
        </p:nvGrpSpPr>
        <p:grpSpPr>
          <a:xfrm>
            <a:off x="6787633" y="428774"/>
            <a:ext cx="5131307" cy="831964"/>
            <a:chOff x="0" y="0"/>
            <a:chExt cx="1351455" cy="219118"/>
          </a:xfrm>
          <a:solidFill>
            <a:schemeClr val="accent1"/>
          </a:solidFill>
        </p:grpSpPr>
        <p:sp>
          <p:nvSpPr>
            <p:cNvPr id="3" name="Freeform 3">
              <a:extLst>
                <a:ext uri="{FF2B5EF4-FFF2-40B4-BE49-F238E27FC236}">
                  <a16:creationId xmlns:a16="http://schemas.microsoft.com/office/drawing/2014/main" id="{77130A10-58BC-6AAB-26F7-B032346EB22A}"/>
                </a:ext>
              </a:extLst>
            </p:cNvPr>
            <p:cNvSpPr/>
            <p:nvPr/>
          </p:nvSpPr>
          <p:spPr>
            <a:xfrm>
              <a:off x="0" y="0"/>
              <a:ext cx="1351455" cy="219118"/>
            </a:xfrm>
            <a:custGeom>
              <a:avLst/>
              <a:gdLst/>
              <a:ahLst/>
              <a:cxnLst/>
              <a:rect l="l" t="t" r="r" b="b"/>
              <a:pathLst>
                <a:path w="1351455" h="219118">
                  <a:moveTo>
                    <a:pt x="76947" y="0"/>
                  </a:moveTo>
                  <a:lnTo>
                    <a:pt x="1274509" y="0"/>
                  </a:lnTo>
                  <a:cubicBezTo>
                    <a:pt x="1317005" y="0"/>
                    <a:pt x="1351455" y="34450"/>
                    <a:pt x="1351455" y="76947"/>
                  </a:cubicBezTo>
                  <a:lnTo>
                    <a:pt x="1351455" y="142171"/>
                  </a:lnTo>
                  <a:cubicBezTo>
                    <a:pt x="1351455" y="184668"/>
                    <a:pt x="1317005" y="219118"/>
                    <a:pt x="1274509" y="219118"/>
                  </a:cubicBezTo>
                  <a:lnTo>
                    <a:pt x="76947" y="219118"/>
                  </a:lnTo>
                  <a:cubicBezTo>
                    <a:pt x="34450" y="219118"/>
                    <a:pt x="0" y="184668"/>
                    <a:pt x="0" y="142171"/>
                  </a:cubicBezTo>
                  <a:lnTo>
                    <a:pt x="0" y="76947"/>
                  </a:lnTo>
                  <a:cubicBezTo>
                    <a:pt x="0" y="34450"/>
                    <a:pt x="34450" y="0"/>
                    <a:pt x="76947" y="0"/>
                  </a:cubicBezTo>
                  <a:close/>
                </a:path>
              </a:pathLst>
            </a:custGeom>
            <a:grpFill/>
          </p:spPr>
        </p:sp>
        <p:sp>
          <p:nvSpPr>
            <p:cNvPr id="4" name="TextBox 4">
              <a:extLst>
                <a:ext uri="{FF2B5EF4-FFF2-40B4-BE49-F238E27FC236}">
                  <a16:creationId xmlns:a16="http://schemas.microsoft.com/office/drawing/2014/main" id="{9D6B74DE-C7C5-90BA-7956-36974C036A56}"/>
                </a:ext>
              </a:extLst>
            </p:cNvPr>
            <p:cNvSpPr txBox="1"/>
            <p:nvPr/>
          </p:nvSpPr>
          <p:spPr>
            <a:xfrm>
              <a:off x="0" y="-19050"/>
              <a:ext cx="1351455" cy="238168"/>
            </a:xfrm>
            <a:prstGeom prst="rect">
              <a:avLst/>
            </a:prstGeom>
            <a:grpFill/>
          </p:spPr>
          <p:txBody>
            <a:bodyPr lIns="50800" tIns="50800" rIns="50800" bIns="50800" rtlCol="0" anchor="ctr"/>
            <a:lstStyle/>
            <a:p>
              <a:pPr algn="ctr">
                <a:lnSpc>
                  <a:spcPts val="2098"/>
                </a:lnSpc>
              </a:pPr>
              <a:endParaRPr/>
            </a:p>
          </p:txBody>
        </p:sp>
      </p:grpSp>
      <p:sp>
        <p:nvSpPr>
          <p:cNvPr id="5" name="TextBox 5">
            <a:extLst>
              <a:ext uri="{FF2B5EF4-FFF2-40B4-BE49-F238E27FC236}">
                <a16:creationId xmlns:a16="http://schemas.microsoft.com/office/drawing/2014/main" id="{34F66126-517F-04FE-9036-64D3646C653D}"/>
              </a:ext>
            </a:extLst>
          </p:cNvPr>
          <p:cNvSpPr txBox="1"/>
          <p:nvPr/>
        </p:nvSpPr>
        <p:spPr>
          <a:xfrm>
            <a:off x="6921050" y="428831"/>
            <a:ext cx="4997890" cy="682174"/>
          </a:xfrm>
          <a:prstGeom prst="rect">
            <a:avLst/>
          </a:prstGeom>
        </p:spPr>
        <p:txBody>
          <a:bodyPr lIns="0" tIns="0" rIns="0" bIns="0" rtlCol="0" anchor="t">
            <a:spAutoFit/>
          </a:bodyPr>
          <a:lstStyle/>
          <a:p>
            <a:pPr algn="ctr">
              <a:lnSpc>
                <a:spcPts val="5599"/>
              </a:lnSpc>
            </a:pPr>
            <a:r>
              <a:rPr lang="en-US" sz="3999" dirty="0">
                <a:solidFill>
                  <a:srgbClr val="FFFFFF"/>
                </a:solidFill>
                <a:latin typeface="Poppins Bold"/>
              </a:rPr>
              <a:t>CONTENTS</a:t>
            </a:r>
          </a:p>
        </p:txBody>
      </p:sp>
      <p:sp>
        <p:nvSpPr>
          <p:cNvPr id="6" name="TextBox 6">
            <a:extLst>
              <a:ext uri="{FF2B5EF4-FFF2-40B4-BE49-F238E27FC236}">
                <a16:creationId xmlns:a16="http://schemas.microsoft.com/office/drawing/2014/main" id="{9B926F9B-C66C-E137-0DCB-D20FEA399E8B}"/>
              </a:ext>
            </a:extLst>
          </p:cNvPr>
          <p:cNvSpPr txBox="1"/>
          <p:nvPr/>
        </p:nvSpPr>
        <p:spPr>
          <a:xfrm>
            <a:off x="1028700" y="1384300"/>
            <a:ext cx="16230600" cy="11040202"/>
          </a:xfrm>
          <a:prstGeom prst="rect">
            <a:avLst/>
          </a:prstGeom>
        </p:spPr>
        <p:txBody>
          <a:bodyPr lIns="0" tIns="0" rIns="0" bIns="0" rtlCol="0" anchor="t">
            <a:spAutoFit/>
          </a:bodyPr>
          <a:lstStyle/>
          <a:p>
            <a:pPr marL="350520" marR="88265" indent="-342900" algn="just">
              <a:lnSpc>
                <a:spcPct val="150000"/>
              </a:lnSpc>
              <a:spcBef>
                <a:spcPts val="415"/>
              </a:spcBef>
              <a:buFont typeface="Wingdings" panose="05000000000000000000" pitchFamily="2" charset="2"/>
              <a:buChar char="Ø"/>
            </a:pPr>
            <a:r>
              <a:rPr lang="en-US" sz="2900" dirty="0">
                <a:effectLst/>
                <a:latin typeface="Poppins Bold" panose="020B0604020202020204" charset="0"/>
                <a:ea typeface="Times New Roman" panose="02020603050405020304" pitchFamily="18" charset="0"/>
                <a:cs typeface="Poppins Bold" panose="020B0604020202020204" charset="0"/>
              </a:rPr>
              <a:t>Abstract</a:t>
            </a:r>
          </a:p>
          <a:p>
            <a:pPr marL="350520" marR="88265" indent="-342900" algn="just">
              <a:lnSpc>
                <a:spcPct val="150000"/>
              </a:lnSpc>
              <a:spcBef>
                <a:spcPts val="415"/>
              </a:spcBef>
              <a:buFont typeface="Wingdings" panose="05000000000000000000" pitchFamily="2" charset="2"/>
              <a:buChar char="Ø"/>
            </a:pPr>
            <a:r>
              <a:rPr lang="en-US" sz="2900" dirty="0">
                <a:latin typeface="Poppins Bold" panose="020B0604020202020204" charset="0"/>
                <a:ea typeface="Times New Roman" panose="02020603050405020304" pitchFamily="18" charset="0"/>
                <a:cs typeface="Poppins Bold" panose="020B0604020202020204" charset="0"/>
              </a:rPr>
              <a:t>Introduction</a:t>
            </a:r>
          </a:p>
          <a:p>
            <a:pPr marL="350520" marR="88265" indent="-342900" algn="just">
              <a:lnSpc>
                <a:spcPct val="150000"/>
              </a:lnSpc>
              <a:spcBef>
                <a:spcPts val="415"/>
              </a:spcBef>
              <a:buFont typeface="Wingdings" panose="05000000000000000000" pitchFamily="2" charset="2"/>
              <a:buChar char="Ø"/>
            </a:pPr>
            <a:r>
              <a:rPr lang="en-US" sz="2900" dirty="0">
                <a:effectLst/>
                <a:latin typeface="Poppins Bold" panose="020B0604020202020204" charset="0"/>
                <a:ea typeface="Times New Roman" panose="02020603050405020304" pitchFamily="18" charset="0"/>
                <a:cs typeface="Poppins Bold" panose="020B0604020202020204" charset="0"/>
              </a:rPr>
              <a:t>Problem Statement</a:t>
            </a:r>
          </a:p>
          <a:p>
            <a:pPr marL="350520" marR="88265" indent="-342900" algn="just">
              <a:lnSpc>
                <a:spcPct val="150000"/>
              </a:lnSpc>
              <a:spcBef>
                <a:spcPts val="415"/>
              </a:spcBef>
              <a:buFont typeface="Wingdings" panose="05000000000000000000" pitchFamily="2" charset="2"/>
              <a:buChar char="Ø"/>
            </a:pPr>
            <a:r>
              <a:rPr lang="en-US" sz="2900" dirty="0">
                <a:latin typeface="Poppins Bold" panose="020B0604020202020204" charset="0"/>
                <a:ea typeface="Times New Roman" panose="02020603050405020304" pitchFamily="18" charset="0"/>
                <a:cs typeface="Poppins Bold" panose="020B0604020202020204" charset="0"/>
              </a:rPr>
              <a:t>Objectives</a:t>
            </a:r>
          </a:p>
          <a:p>
            <a:pPr marL="350520" marR="88265" indent="-342900" algn="just">
              <a:lnSpc>
                <a:spcPct val="150000"/>
              </a:lnSpc>
              <a:spcBef>
                <a:spcPts val="415"/>
              </a:spcBef>
              <a:buFont typeface="Wingdings" panose="05000000000000000000" pitchFamily="2" charset="2"/>
              <a:buChar char="Ø"/>
            </a:pPr>
            <a:r>
              <a:rPr lang="en-US" sz="2900" dirty="0">
                <a:latin typeface="Poppins Bold" panose="020B0604020202020204" charset="0"/>
                <a:ea typeface="Times New Roman" panose="02020603050405020304" pitchFamily="18" charset="0"/>
                <a:cs typeface="Poppins Bold" panose="020B0604020202020204" charset="0"/>
              </a:rPr>
              <a:t>Existing System and Limitations</a:t>
            </a:r>
          </a:p>
          <a:p>
            <a:pPr marL="350520" marR="88265" indent="-342900" algn="just">
              <a:lnSpc>
                <a:spcPct val="150000"/>
              </a:lnSpc>
              <a:spcBef>
                <a:spcPts val="415"/>
              </a:spcBef>
              <a:buFont typeface="Wingdings" panose="05000000000000000000" pitchFamily="2" charset="2"/>
              <a:buChar char="Ø"/>
            </a:pPr>
            <a:r>
              <a:rPr lang="en-US" sz="2900" dirty="0">
                <a:latin typeface="Poppins Bold" panose="020B0604020202020204" charset="0"/>
                <a:ea typeface="Times New Roman" panose="02020603050405020304" pitchFamily="18" charset="0"/>
                <a:cs typeface="Poppins Bold" panose="020B0604020202020204" charset="0"/>
              </a:rPr>
              <a:t>Proposed System</a:t>
            </a:r>
          </a:p>
          <a:p>
            <a:pPr marL="350520" marR="88265" indent="-342900" algn="just">
              <a:lnSpc>
                <a:spcPct val="150000"/>
              </a:lnSpc>
              <a:spcBef>
                <a:spcPts val="415"/>
              </a:spcBef>
              <a:buFont typeface="Wingdings" panose="05000000000000000000" pitchFamily="2" charset="2"/>
              <a:buChar char="Ø"/>
            </a:pPr>
            <a:r>
              <a:rPr lang="en-US" sz="2900" dirty="0">
                <a:latin typeface="Poppins Bold" panose="020B0604020202020204" charset="0"/>
                <a:ea typeface="Times New Roman" panose="02020603050405020304" pitchFamily="18" charset="0"/>
                <a:cs typeface="Poppins Bold" panose="020B0604020202020204" charset="0"/>
              </a:rPr>
              <a:t>Methodology</a:t>
            </a:r>
          </a:p>
          <a:p>
            <a:pPr marL="350520" marR="88265" indent="-342900" algn="just">
              <a:lnSpc>
                <a:spcPct val="150000"/>
              </a:lnSpc>
              <a:spcBef>
                <a:spcPts val="415"/>
              </a:spcBef>
              <a:buFont typeface="Wingdings" panose="05000000000000000000" pitchFamily="2" charset="2"/>
              <a:buChar char="Ø"/>
            </a:pPr>
            <a:r>
              <a:rPr lang="en-US" sz="2900" dirty="0">
                <a:latin typeface="Poppins Bold" panose="020B0604020202020204" charset="0"/>
                <a:ea typeface="Times New Roman" panose="02020603050405020304" pitchFamily="18" charset="0"/>
                <a:cs typeface="Poppins Bold" panose="020B0604020202020204" charset="0"/>
              </a:rPr>
              <a:t>Architecture</a:t>
            </a:r>
          </a:p>
          <a:p>
            <a:pPr marL="350520" marR="88265" indent="-342900" algn="just">
              <a:lnSpc>
                <a:spcPct val="150000"/>
              </a:lnSpc>
              <a:spcBef>
                <a:spcPts val="415"/>
              </a:spcBef>
              <a:buFont typeface="Wingdings" panose="05000000000000000000" pitchFamily="2" charset="2"/>
              <a:buChar char="Ø"/>
            </a:pPr>
            <a:r>
              <a:rPr lang="en-US" sz="2900" dirty="0">
                <a:latin typeface="Poppins Bold" panose="020B0604020202020204" charset="0"/>
                <a:ea typeface="Times New Roman" panose="02020603050405020304" pitchFamily="18" charset="0"/>
                <a:cs typeface="Poppins Bold" panose="020B0604020202020204" charset="0"/>
              </a:rPr>
              <a:t>Dataset</a:t>
            </a:r>
          </a:p>
          <a:p>
            <a:pPr marL="350520" marR="88265" indent="-342900" algn="just">
              <a:lnSpc>
                <a:spcPct val="150000"/>
              </a:lnSpc>
              <a:spcBef>
                <a:spcPts val="415"/>
              </a:spcBef>
              <a:buFont typeface="Wingdings" panose="05000000000000000000" pitchFamily="2" charset="2"/>
              <a:buChar char="Ø"/>
            </a:pPr>
            <a:r>
              <a:rPr lang="en-US" sz="2900" dirty="0">
                <a:latin typeface="Poppins Bold" panose="020B0604020202020204" charset="0"/>
                <a:ea typeface="Times New Roman" panose="02020603050405020304" pitchFamily="18" charset="0"/>
                <a:cs typeface="Poppins Bold" panose="020B0604020202020204" charset="0"/>
              </a:rPr>
              <a:t>Results</a:t>
            </a:r>
          </a:p>
          <a:p>
            <a:pPr marL="350520" marR="88265" indent="-342900" algn="just">
              <a:lnSpc>
                <a:spcPct val="150000"/>
              </a:lnSpc>
              <a:spcBef>
                <a:spcPts val="415"/>
              </a:spcBef>
              <a:buFont typeface="Wingdings" panose="05000000000000000000" pitchFamily="2" charset="2"/>
              <a:buChar char="Ø"/>
            </a:pPr>
            <a:r>
              <a:rPr lang="en-US" sz="2900" dirty="0">
                <a:latin typeface="Poppins Bold" panose="020B0604020202020204" charset="0"/>
                <a:ea typeface="Times New Roman" panose="02020603050405020304" pitchFamily="18" charset="0"/>
                <a:cs typeface="Poppins Bold" panose="020B0604020202020204" charset="0"/>
              </a:rPr>
              <a:t>Conclusion &amp; Future Work</a:t>
            </a:r>
          </a:p>
          <a:p>
            <a:pPr marL="350520" marR="88265" indent="-342900" algn="just">
              <a:lnSpc>
                <a:spcPct val="150000"/>
              </a:lnSpc>
              <a:spcBef>
                <a:spcPts val="415"/>
              </a:spcBef>
              <a:buFont typeface="Wingdings" panose="05000000000000000000" pitchFamily="2" charset="2"/>
              <a:buChar char="Ø"/>
            </a:pPr>
            <a:r>
              <a:rPr lang="en-US" sz="2900" dirty="0">
                <a:latin typeface="Poppins Bold" panose="020B0604020202020204" charset="0"/>
                <a:ea typeface="Times New Roman" panose="02020603050405020304" pitchFamily="18" charset="0"/>
                <a:cs typeface="Poppins Bold" panose="020B0604020202020204" charset="0"/>
              </a:rPr>
              <a:t>References</a:t>
            </a:r>
          </a:p>
          <a:p>
            <a:pPr marL="350520" marR="88265" indent="-342900" algn="just">
              <a:lnSpc>
                <a:spcPct val="150000"/>
              </a:lnSpc>
              <a:spcBef>
                <a:spcPts val="415"/>
              </a:spcBef>
              <a:buFont typeface="Wingdings" panose="05000000000000000000" pitchFamily="2" charset="2"/>
              <a:buChar char="Ø"/>
            </a:pPr>
            <a:endParaRPr lang="en-US" sz="2900" dirty="0">
              <a:latin typeface="Poppins Bold" panose="020B0604020202020204" charset="0"/>
              <a:ea typeface="Times New Roman" panose="02020603050405020304" pitchFamily="18" charset="0"/>
              <a:cs typeface="Poppins Bold" panose="020B0604020202020204" charset="0"/>
            </a:endParaRPr>
          </a:p>
          <a:p>
            <a:pPr marL="350520" marR="88265" indent="-342900" algn="just">
              <a:lnSpc>
                <a:spcPct val="150000"/>
              </a:lnSpc>
              <a:spcBef>
                <a:spcPts val="415"/>
              </a:spcBef>
              <a:buFont typeface="Wingdings" panose="05000000000000000000" pitchFamily="2" charset="2"/>
              <a:buChar char="Ø"/>
            </a:pPr>
            <a:endParaRPr lang="en-US" sz="2900" dirty="0">
              <a:effectLst/>
              <a:latin typeface="Poppins Bold" panose="020B0604020202020204" charset="0"/>
              <a:ea typeface="Times New Roman" panose="02020603050405020304" pitchFamily="18" charset="0"/>
              <a:cs typeface="Poppins Bold" panose="020B0604020202020204" charset="0"/>
            </a:endParaRPr>
          </a:p>
          <a:p>
            <a:pPr marL="350520" marR="88265" indent="-342900" algn="just">
              <a:lnSpc>
                <a:spcPct val="150000"/>
              </a:lnSpc>
              <a:spcBef>
                <a:spcPts val="415"/>
              </a:spcBef>
              <a:buFont typeface="Wingdings" panose="05000000000000000000" pitchFamily="2" charset="2"/>
              <a:buChar char="Ø"/>
            </a:pPr>
            <a:endParaRPr lang="en-IN" sz="2900" dirty="0">
              <a:effectLst/>
              <a:latin typeface="Poppins Bold" panose="020B0604020202020204" charset="0"/>
              <a:ea typeface="Times New Roman" panose="02020603050405020304" pitchFamily="18" charset="0"/>
              <a:cs typeface="Poppins Bold" panose="020B0604020202020204" charset="0"/>
            </a:endParaRPr>
          </a:p>
        </p:txBody>
      </p:sp>
    </p:spTree>
    <p:extLst>
      <p:ext uri="{BB962C8B-B14F-4D97-AF65-F5344CB8AC3E}">
        <p14:creationId xmlns:p14="http://schemas.microsoft.com/office/powerpoint/2010/main" val="970046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87633" y="428774"/>
            <a:ext cx="5131307" cy="831964"/>
            <a:chOff x="0" y="0"/>
            <a:chExt cx="1351455" cy="219118"/>
          </a:xfrm>
          <a:solidFill>
            <a:schemeClr val="accent1"/>
          </a:solidFill>
        </p:grpSpPr>
        <p:sp>
          <p:nvSpPr>
            <p:cNvPr id="3" name="Freeform 3"/>
            <p:cNvSpPr/>
            <p:nvPr/>
          </p:nvSpPr>
          <p:spPr>
            <a:xfrm>
              <a:off x="0" y="0"/>
              <a:ext cx="1351455" cy="219118"/>
            </a:xfrm>
            <a:custGeom>
              <a:avLst/>
              <a:gdLst/>
              <a:ahLst/>
              <a:cxnLst/>
              <a:rect l="l" t="t" r="r" b="b"/>
              <a:pathLst>
                <a:path w="1351455" h="219118">
                  <a:moveTo>
                    <a:pt x="76947" y="0"/>
                  </a:moveTo>
                  <a:lnTo>
                    <a:pt x="1274509" y="0"/>
                  </a:lnTo>
                  <a:cubicBezTo>
                    <a:pt x="1317005" y="0"/>
                    <a:pt x="1351455" y="34450"/>
                    <a:pt x="1351455" y="76947"/>
                  </a:cubicBezTo>
                  <a:lnTo>
                    <a:pt x="1351455" y="142171"/>
                  </a:lnTo>
                  <a:cubicBezTo>
                    <a:pt x="1351455" y="184668"/>
                    <a:pt x="1317005" y="219118"/>
                    <a:pt x="1274509" y="219118"/>
                  </a:cubicBezTo>
                  <a:lnTo>
                    <a:pt x="76947" y="219118"/>
                  </a:lnTo>
                  <a:cubicBezTo>
                    <a:pt x="34450" y="219118"/>
                    <a:pt x="0" y="184668"/>
                    <a:pt x="0" y="142171"/>
                  </a:cubicBezTo>
                  <a:lnTo>
                    <a:pt x="0" y="76947"/>
                  </a:lnTo>
                  <a:cubicBezTo>
                    <a:pt x="0" y="34450"/>
                    <a:pt x="34450" y="0"/>
                    <a:pt x="76947" y="0"/>
                  </a:cubicBezTo>
                  <a:close/>
                </a:path>
              </a:pathLst>
            </a:custGeom>
            <a:grpFill/>
          </p:spPr>
        </p:sp>
        <p:sp>
          <p:nvSpPr>
            <p:cNvPr id="4" name="TextBox 4"/>
            <p:cNvSpPr txBox="1"/>
            <p:nvPr/>
          </p:nvSpPr>
          <p:spPr>
            <a:xfrm>
              <a:off x="0" y="-19050"/>
              <a:ext cx="1351455" cy="238168"/>
            </a:xfrm>
            <a:prstGeom prst="rect">
              <a:avLst/>
            </a:prstGeom>
            <a:grpFill/>
          </p:spPr>
          <p:txBody>
            <a:bodyPr lIns="50800" tIns="50800" rIns="50800" bIns="50800" rtlCol="0" anchor="ctr"/>
            <a:lstStyle/>
            <a:p>
              <a:pPr algn="ctr">
                <a:lnSpc>
                  <a:spcPts val="2098"/>
                </a:lnSpc>
              </a:pPr>
              <a:endParaRPr/>
            </a:p>
          </p:txBody>
        </p:sp>
      </p:grpSp>
      <p:sp>
        <p:nvSpPr>
          <p:cNvPr id="5" name="TextBox 5"/>
          <p:cNvSpPr txBox="1"/>
          <p:nvPr/>
        </p:nvSpPr>
        <p:spPr>
          <a:xfrm>
            <a:off x="6921050" y="428831"/>
            <a:ext cx="4997890" cy="717550"/>
          </a:xfrm>
          <a:prstGeom prst="rect">
            <a:avLst/>
          </a:prstGeom>
        </p:spPr>
        <p:txBody>
          <a:bodyPr lIns="0" tIns="0" rIns="0" bIns="0" rtlCol="0" anchor="t">
            <a:spAutoFit/>
          </a:bodyPr>
          <a:lstStyle/>
          <a:p>
            <a:pPr algn="ctr">
              <a:lnSpc>
                <a:spcPts val="5599"/>
              </a:lnSpc>
            </a:pPr>
            <a:r>
              <a:rPr lang="en-US" sz="3999" dirty="0">
                <a:solidFill>
                  <a:srgbClr val="FFFFFF"/>
                </a:solidFill>
                <a:latin typeface="Poppins Bold"/>
              </a:rPr>
              <a:t>ABSTRACT</a:t>
            </a:r>
          </a:p>
        </p:txBody>
      </p:sp>
      <p:sp>
        <p:nvSpPr>
          <p:cNvPr id="6" name="TextBox 6"/>
          <p:cNvSpPr txBox="1"/>
          <p:nvPr/>
        </p:nvSpPr>
        <p:spPr>
          <a:xfrm>
            <a:off x="1028700" y="1857664"/>
            <a:ext cx="16230600" cy="6571671"/>
          </a:xfrm>
          <a:prstGeom prst="rect">
            <a:avLst/>
          </a:prstGeom>
        </p:spPr>
        <p:txBody>
          <a:bodyPr lIns="0" tIns="0" rIns="0" bIns="0" rtlCol="0" anchor="t">
            <a:spAutoFit/>
          </a:bodyPr>
          <a:lstStyle/>
          <a:p>
            <a:pPr algn="just">
              <a:lnSpc>
                <a:spcPct val="150000"/>
              </a:lnSpc>
            </a:pPr>
            <a:r>
              <a:rPr lang="en-US" sz="3200" b="1" dirty="0"/>
              <a:t>Drug–drug interactions (DDIs) present significant risks in modern multi-drug therapies, making accurate and early prediction crucial for patient safety. This work proposes a deep learning–based framework using a Siamese neural network to predict harmful DDIs from molecular structure data. Each drug is represented as a molecular fingerprint vector that captures its chemical substructures and properties. The model learns latent similarity relationships between drug pairs and estimates the probability of adverse interactions through a classification layer. Experimental results demonstrate high predictive accuracy, outperforming traditional machine learning methods on large-scale datasets. The proposed system offers a scalable and efficient solution for enhancing clinical decision-making and supporting safer drug development.</a:t>
            </a:r>
          </a:p>
        </p:txBody>
      </p:sp>
      <p:pic>
        <p:nvPicPr>
          <p:cNvPr id="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36" t="8255"/>
          <a:stretch/>
        </p:blipFill>
        <p:spPr bwMode="auto">
          <a:xfrm>
            <a:off x="14128066" y="0"/>
            <a:ext cx="2483534" cy="808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463779A-79D8-F065-656E-1C4A25A5ED9E}"/>
              </a:ext>
            </a:extLst>
          </p:cNvPr>
          <p:cNvGrpSpPr/>
          <p:nvPr/>
        </p:nvGrpSpPr>
        <p:grpSpPr>
          <a:xfrm>
            <a:off x="6787633" y="428774"/>
            <a:ext cx="5131307" cy="831964"/>
            <a:chOff x="0" y="0"/>
            <a:chExt cx="1351455" cy="219118"/>
          </a:xfrm>
        </p:grpSpPr>
        <p:sp>
          <p:nvSpPr>
            <p:cNvPr id="3" name="Freeform 3">
              <a:extLst>
                <a:ext uri="{FF2B5EF4-FFF2-40B4-BE49-F238E27FC236}">
                  <a16:creationId xmlns:a16="http://schemas.microsoft.com/office/drawing/2014/main" id="{DB9FB98A-C4BF-0A31-53E0-0FFC34FADD57}"/>
                </a:ext>
              </a:extLst>
            </p:cNvPr>
            <p:cNvSpPr/>
            <p:nvPr/>
          </p:nvSpPr>
          <p:spPr>
            <a:xfrm>
              <a:off x="0" y="0"/>
              <a:ext cx="1351455" cy="219118"/>
            </a:xfrm>
            <a:custGeom>
              <a:avLst/>
              <a:gdLst/>
              <a:ahLst/>
              <a:cxnLst/>
              <a:rect l="l" t="t" r="r" b="b"/>
              <a:pathLst>
                <a:path w="1351455" h="219118">
                  <a:moveTo>
                    <a:pt x="76947" y="0"/>
                  </a:moveTo>
                  <a:lnTo>
                    <a:pt x="1274509" y="0"/>
                  </a:lnTo>
                  <a:cubicBezTo>
                    <a:pt x="1317005" y="0"/>
                    <a:pt x="1351455" y="34450"/>
                    <a:pt x="1351455" y="76947"/>
                  </a:cubicBezTo>
                  <a:lnTo>
                    <a:pt x="1351455" y="142171"/>
                  </a:lnTo>
                  <a:cubicBezTo>
                    <a:pt x="1351455" y="184668"/>
                    <a:pt x="1317005" y="219118"/>
                    <a:pt x="1274509" y="219118"/>
                  </a:cubicBezTo>
                  <a:lnTo>
                    <a:pt x="76947" y="219118"/>
                  </a:lnTo>
                  <a:cubicBezTo>
                    <a:pt x="34450" y="219118"/>
                    <a:pt x="0" y="184668"/>
                    <a:pt x="0" y="142171"/>
                  </a:cubicBezTo>
                  <a:lnTo>
                    <a:pt x="0" y="76947"/>
                  </a:lnTo>
                  <a:cubicBezTo>
                    <a:pt x="0" y="34450"/>
                    <a:pt x="34450" y="0"/>
                    <a:pt x="76947" y="0"/>
                  </a:cubicBezTo>
                  <a:close/>
                </a:path>
              </a:pathLst>
            </a:custGeom>
            <a:solidFill>
              <a:schemeClr val="accent1"/>
            </a:solidFill>
          </p:spPr>
        </p:sp>
        <p:sp>
          <p:nvSpPr>
            <p:cNvPr id="4" name="TextBox 4">
              <a:extLst>
                <a:ext uri="{FF2B5EF4-FFF2-40B4-BE49-F238E27FC236}">
                  <a16:creationId xmlns:a16="http://schemas.microsoft.com/office/drawing/2014/main" id="{91A52873-E8CF-B3BB-B195-B4A6E7F48880}"/>
                </a:ext>
              </a:extLst>
            </p:cNvPr>
            <p:cNvSpPr txBox="1"/>
            <p:nvPr/>
          </p:nvSpPr>
          <p:spPr>
            <a:xfrm>
              <a:off x="0" y="-19050"/>
              <a:ext cx="1351455" cy="238168"/>
            </a:xfrm>
            <a:prstGeom prst="rect">
              <a:avLst/>
            </a:prstGeom>
          </p:spPr>
          <p:txBody>
            <a:bodyPr lIns="50800" tIns="50800" rIns="50800" bIns="50800" rtlCol="0" anchor="ctr"/>
            <a:lstStyle/>
            <a:p>
              <a:pPr algn="ctr">
                <a:lnSpc>
                  <a:spcPts val="2098"/>
                </a:lnSpc>
              </a:pPr>
              <a:endParaRPr/>
            </a:p>
          </p:txBody>
        </p:sp>
      </p:grpSp>
      <p:sp>
        <p:nvSpPr>
          <p:cNvPr id="5" name="TextBox 5">
            <a:extLst>
              <a:ext uri="{FF2B5EF4-FFF2-40B4-BE49-F238E27FC236}">
                <a16:creationId xmlns:a16="http://schemas.microsoft.com/office/drawing/2014/main" id="{EE606587-4454-EFA4-7675-7F04CD659E37}"/>
              </a:ext>
            </a:extLst>
          </p:cNvPr>
          <p:cNvSpPr txBox="1"/>
          <p:nvPr/>
        </p:nvSpPr>
        <p:spPr>
          <a:xfrm>
            <a:off x="6921050" y="428831"/>
            <a:ext cx="4997890" cy="682174"/>
          </a:xfrm>
          <a:prstGeom prst="rect">
            <a:avLst/>
          </a:prstGeom>
        </p:spPr>
        <p:txBody>
          <a:bodyPr lIns="0" tIns="0" rIns="0" bIns="0" rtlCol="0" anchor="t">
            <a:spAutoFit/>
          </a:bodyPr>
          <a:lstStyle/>
          <a:p>
            <a:pPr algn="ctr">
              <a:lnSpc>
                <a:spcPts val="5599"/>
              </a:lnSpc>
            </a:pPr>
            <a:r>
              <a:rPr lang="en-US" sz="3999" dirty="0">
                <a:solidFill>
                  <a:srgbClr val="FFFFFF"/>
                </a:solidFill>
                <a:latin typeface="Poppins Bold"/>
              </a:rPr>
              <a:t>INTRODUCTION</a:t>
            </a:r>
          </a:p>
        </p:txBody>
      </p:sp>
      <p:sp>
        <p:nvSpPr>
          <p:cNvPr id="17" name="TextBox 16">
            <a:extLst>
              <a:ext uri="{FF2B5EF4-FFF2-40B4-BE49-F238E27FC236}">
                <a16:creationId xmlns:a16="http://schemas.microsoft.com/office/drawing/2014/main" id="{C2017164-B66D-2ED2-3DAF-CB9BCF5EBC7F}"/>
              </a:ext>
            </a:extLst>
          </p:cNvPr>
          <p:cNvSpPr txBox="1"/>
          <p:nvPr/>
        </p:nvSpPr>
        <p:spPr>
          <a:xfrm>
            <a:off x="804041" y="1638300"/>
            <a:ext cx="16107574" cy="6669070"/>
          </a:xfrm>
          <a:prstGeom prst="rect">
            <a:avLst/>
          </a:prstGeom>
          <a:noFill/>
        </p:spPr>
        <p:txBody>
          <a:bodyPr wrap="square">
            <a:spAutoFit/>
          </a:bodyPr>
          <a:lstStyle/>
          <a:p>
            <a:pPr algn="just">
              <a:lnSpc>
                <a:spcPct val="150000"/>
              </a:lnSpc>
            </a:pPr>
            <a:r>
              <a:rPr lang="en-US" sz="3200" b="1" dirty="0"/>
              <a:t>Combination drug therapies are widely used to treat complex diseases but increase the risk of harmful drug–drug interactions (DDIs), which may reduce effectiveness or cause serious side effects. Traditional detection methods, such as clinical trials, are costly and impractical for evaluating the vast number of drug combinations. With the growth of biomedical data, computational approaches—especially deep learning—offer efficient alternatives. This work proposes a Siamese neural network that uses molecular fingerprint representations to learn drug similarities and predict interactions. The model improves generalization for unseen drug pairs and provides a scalable solution for clinical decision support and pharmaceutical research.</a:t>
            </a:r>
            <a:endParaRPr lang="en-IN" sz="3200" b="1" dirty="0">
              <a:latin typeface="Poppins Bold" panose="020B0604020202020204" charset="0"/>
              <a:cs typeface="Poppins Bold" panose="020B0604020202020204" charset="0"/>
            </a:endParaRPr>
          </a:p>
        </p:txBody>
      </p:sp>
      <p:pic>
        <p:nvPicPr>
          <p:cNvPr id="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36" t="8255"/>
          <a:stretch/>
        </p:blipFill>
        <p:spPr bwMode="auto">
          <a:xfrm>
            <a:off x="13780381" y="88430"/>
            <a:ext cx="3131234" cy="1182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6566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2">
            <a:extLst>
              <a:ext uri="{FF2B5EF4-FFF2-40B4-BE49-F238E27FC236}">
                <a16:creationId xmlns:a16="http://schemas.microsoft.com/office/drawing/2014/main" id="{07F8A06F-F558-2626-4EC2-E64E1B6577BD}"/>
              </a:ext>
            </a:extLst>
          </p:cNvPr>
          <p:cNvGrpSpPr/>
          <p:nvPr/>
        </p:nvGrpSpPr>
        <p:grpSpPr>
          <a:xfrm>
            <a:off x="5867400" y="428774"/>
            <a:ext cx="6553200" cy="1427156"/>
            <a:chOff x="0" y="0"/>
            <a:chExt cx="7638004" cy="1902874"/>
          </a:xfrm>
        </p:grpSpPr>
        <p:grpSp>
          <p:nvGrpSpPr>
            <p:cNvPr id="47" name="Group 3">
              <a:extLst>
                <a:ext uri="{FF2B5EF4-FFF2-40B4-BE49-F238E27FC236}">
                  <a16:creationId xmlns:a16="http://schemas.microsoft.com/office/drawing/2014/main" id="{3FE89554-3927-D1FF-7FA1-EF86D92DE246}"/>
                </a:ext>
              </a:extLst>
            </p:cNvPr>
            <p:cNvGrpSpPr/>
            <p:nvPr/>
          </p:nvGrpSpPr>
          <p:grpSpPr>
            <a:xfrm>
              <a:off x="0" y="0"/>
              <a:ext cx="7638004" cy="1109285"/>
              <a:chOff x="0" y="0"/>
              <a:chExt cx="1508742" cy="219118"/>
            </a:xfrm>
          </p:grpSpPr>
          <p:sp>
            <p:nvSpPr>
              <p:cNvPr id="49" name="Freeform 4">
                <a:extLst>
                  <a:ext uri="{FF2B5EF4-FFF2-40B4-BE49-F238E27FC236}">
                    <a16:creationId xmlns:a16="http://schemas.microsoft.com/office/drawing/2014/main" id="{8E38039A-5719-A753-5E78-5020EB98F58F}"/>
                  </a:ext>
                </a:extLst>
              </p:cNvPr>
              <p:cNvSpPr/>
              <p:nvPr/>
            </p:nvSpPr>
            <p:spPr>
              <a:xfrm>
                <a:off x="0" y="0"/>
                <a:ext cx="1508742" cy="219118"/>
              </a:xfrm>
              <a:custGeom>
                <a:avLst/>
                <a:gdLst/>
                <a:ahLst/>
                <a:cxnLst/>
                <a:rect l="l" t="t" r="r" b="b"/>
                <a:pathLst>
                  <a:path w="1508742" h="219118">
                    <a:moveTo>
                      <a:pt x="68925" y="0"/>
                    </a:moveTo>
                    <a:lnTo>
                      <a:pt x="1439816" y="0"/>
                    </a:lnTo>
                    <a:cubicBezTo>
                      <a:pt x="1477883" y="0"/>
                      <a:pt x="1508742" y="30859"/>
                      <a:pt x="1508742" y="68925"/>
                    </a:cubicBezTo>
                    <a:lnTo>
                      <a:pt x="1508742" y="150193"/>
                    </a:lnTo>
                    <a:cubicBezTo>
                      <a:pt x="1508742" y="188259"/>
                      <a:pt x="1477883" y="219118"/>
                      <a:pt x="1439816" y="219118"/>
                    </a:cubicBezTo>
                    <a:lnTo>
                      <a:pt x="68925" y="219118"/>
                    </a:lnTo>
                    <a:cubicBezTo>
                      <a:pt x="30859" y="219118"/>
                      <a:pt x="0" y="188259"/>
                      <a:pt x="0" y="150193"/>
                    </a:cubicBezTo>
                    <a:lnTo>
                      <a:pt x="0" y="68925"/>
                    </a:lnTo>
                    <a:cubicBezTo>
                      <a:pt x="0" y="30859"/>
                      <a:pt x="30859" y="0"/>
                      <a:pt x="68925" y="0"/>
                    </a:cubicBezTo>
                    <a:close/>
                  </a:path>
                </a:pathLst>
              </a:custGeom>
              <a:solidFill>
                <a:schemeClr val="accent1"/>
              </a:solidFill>
            </p:spPr>
            <p:txBody>
              <a:bodyPr/>
              <a:lstStyle/>
              <a:p>
                <a:endParaRPr lang="en-IN" dirty="0"/>
              </a:p>
            </p:txBody>
          </p:sp>
          <p:sp>
            <p:nvSpPr>
              <p:cNvPr id="50" name="TextBox 5">
                <a:extLst>
                  <a:ext uri="{FF2B5EF4-FFF2-40B4-BE49-F238E27FC236}">
                    <a16:creationId xmlns:a16="http://schemas.microsoft.com/office/drawing/2014/main" id="{C29C85B3-3452-A873-DA3D-BEDD28670560}"/>
                  </a:ext>
                </a:extLst>
              </p:cNvPr>
              <p:cNvSpPr txBox="1"/>
              <p:nvPr/>
            </p:nvSpPr>
            <p:spPr>
              <a:xfrm>
                <a:off x="0" y="-19050"/>
                <a:ext cx="1508742" cy="238168"/>
              </a:xfrm>
              <a:prstGeom prst="rect">
                <a:avLst/>
              </a:prstGeom>
            </p:spPr>
            <p:txBody>
              <a:bodyPr lIns="50800" tIns="50800" rIns="50800" bIns="50800" rtlCol="0" anchor="ctr"/>
              <a:lstStyle/>
              <a:p>
                <a:pPr algn="ctr">
                  <a:lnSpc>
                    <a:spcPts val="2098"/>
                  </a:lnSpc>
                </a:pPr>
                <a:endParaRPr/>
              </a:p>
            </p:txBody>
          </p:sp>
        </p:grpSp>
        <p:sp>
          <p:nvSpPr>
            <p:cNvPr id="48" name="TextBox 6">
              <a:extLst>
                <a:ext uri="{FF2B5EF4-FFF2-40B4-BE49-F238E27FC236}">
                  <a16:creationId xmlns:a16="http://schemas.microsoft.com/office/drawing/2014/main" id="{4553719B-4155-D7C9-3A99-C8ECD4A1CFDD}"/>
                </a:ext>
              </a:extLst>
            </p:cNvPr>
            <p:cNvSpPr txBox="1"/>
            <p:nvPr/>
          </p:nvSpPr>
          <p:spPr>
            <a:xfrm>
              <a:off x="590109" y="38176"/>
              <a:ext cx="6457787" cy="1864698"/>
            </a:xfrm>
            <a:prstGeom prst="rect">
              <a:avLst/>
            </a:prstGeom>
          </p:spPr>
          <p:txBody>
            <a:bodyPr wrap="square" lIns="0" tIns="0" rIns="0" bIns="0" rtlCol="0" anchor="t">
              <a:spAutoFit/>
            </a:bodyPr>
            <a:lstStyle/>
            <a:p>
              <a:pPr marL="0" algn="ctr" rtl="0" eaLnBrk="1" latinLnBrk="0" hangingPunct="1">
                <a:lnSpc>
                  <a:spcPts val="5599"/>
                </a:lnSpc>
              </a:pPr>
              <a:r>
                <a:rPr lang="en-US" sz="4000" kern="1200" dirty="0">
                  <a:solidFill>
                    <a:srgbClr val="FFFFFF"/>
                  </a:solidFill>
                  <a:effectLst/>
                  <a:latin typeface="Poppins Bold" panose="020B0604020202020204" charset="0"/>
                  <a:ea typeface="+mn-ea"/>
                  <a:cs typeface="+mn-cs"/>
                </a:rPr>
                <a:t>PROBLEM STATEMENT</a:t>
              </a:r>
              <a:endParaRPr lang="en-IN" sz="4000" dirty="0">
                <a:effectLst/>
              </a:endParaRPr>
            </a:p>
          </p:txBody>
        </p:sp>
      </p:grpSp>
      <p:sp>
        <p:nvSpPr>
          <p:cNvPr id="51" name="TextBox 7">
            <a:extLst>
              <a:ext uri="{FF2B5EF4-FFF2-40B4-BE49-F238E27FC236}">
                <a16:creationId xmlns:a16="http://schemas.microsoft.com/office/drawing/2014/main" id="{DFA04D67-230B-18D2-71E2-AC9DF7EA5ECA}"/>
              </a:ext>
            </a:extLst>
          </p:cNvPr>
          <p:cNvSpPr txBox="1"/>
          <p:nvPr/>
        </p:nvSpPr>
        <p:spPr>
          <a:xfrm>
            <a:off x="1002684" y="2019300"/>
            <a:ext cx="16230600" cy="3447098"/>
          </a:xfrm>
          <a:prstGeom prst="rect">
            <a:avLst/>
          </a:prstGeom>
        </p:spPr>
        <p:txBody>
          <a:bodyPr wrap="square" lIns="0" tIns="0" rIns="0" bIns="0" rtlCol="0" anchor="t">
            <a:spAutoFit/>
          </a:bodyPr>
          <a:lstStyle/>
          <a:p>
            <a:pPr algn="just"/>
            <a:r>
              <a:rPr lang="en-US" sz="3200" b="1" dirty="0"/>
              <a:t>The rapid increase in available drugs has led to a vast number of possible drug combinations, making it impractical to experimentally identify all harmful drug–drug interactions (DDIs). Traditional methods are time-consuming, expensive, and limited in scalability, posing risks to patient safety due to undetected interactions. Therefore, there is a need for an efficient computational approach that can accurately predict potential DDIs. The challenge lies in learning complex nonlinear relationships between drug structures while ensuring strong generalization to unseen drug pairs.</a:t>
            </a:r>
          </a:p>
        </p:txBody>
      </p:sp>
      <p:pic>
        <p:nvPicPr>
          <p:cNvPr id="9"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4436" t="8255"/>
          <a:stretch/>
        </p:blipFill>
        <p:spPr bwMode="auto">
          <a:xfrm>
            <a:off x="14125863" y="27590"/>
            <a:ext cx="3131234" cy="817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7516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970A9D5-FA44-7342-FF44-9BBB05CCC62F}"/>
              </a:ext>
            </a:extLst>
          </p:cNvPr>
          <p:cNvGrpSpPr/>
          <p:nvPr/>
        </p:nvGrpSpPr>
        <p:grpSpPr>
          <a:xfrm>
            <a:off x="5867400" y="428774"/>
            <a:ext cx="6553200" cy="831964"/>
            <a:chOff x="0" y="0"/>
            <a:chExt cx="7638004" cy="1109285"/>
          </a:xfrm>
          <a:solidFill>
            <a:schemeClr val="accent1"/>
          </a:solidFill>
        </p:grpSpPr>
        <p:grpSp>
          <p:nvGrpSpPr>
            <p:cNvPr id="3" name="Group 3">
              <a:extLst>
                <a:ext uri="{FF2B5EF4-FFF2-40B4-BE49-F238E27FC236}">
                  <a16:creationId xmlns:a16="http://schemas.microsoft.com/office/drawing/2014/main" id="{701E2279-42AE-10A9-BF70-BDD99DDF08A9}"/>
                </a:ext>
              </a:extLst>
            </p:cNvPr>
            <p:cNvGrpSpPr/>
            <p:nvPr/>
          </p:nvGrpSpPr>
          <p:grpSpPr>
            <a:xfrm>
              <a:off x="0" y="0"/>
              <a:ext cx="7638004" cy="1109285"/>
              <a:chOff x="0" y="0"/>
              <a:chExt cx="1508742" cy="219118"/>
            </a:xfrm>
            <a:grpFill/>
          </p:grpSpPr>
          <p:sp>
            <p:nvSpPr>
              <p:cNvPr id="5" name="Freeform 4">
                <a:extLst>
                  <a:ext uri="{FF2B5EF4-FFF2-40B4-BE49-F238E27FC236}">
                    <a16:creationId xmlns:a16="http://schemas.microsoft.com/office/drawing/2014/main" id="{B824DCF7-E67C-A5CD-D3E6-8427A6BFA25E}"/>
                  </a:ext>
                </a:extLst>
              </p:cNvPr>
              <p:cNvSpPr/>
              <p:nvPr/>
            </p:nvSpPr>
            <p:spPr>
              <a:xfrm>
                <a:off x="0" y="0"/>
                <a:ext cx="1508742" cy="219118"/>
              </a:xfrm>
              <a:custGeom>
                <a:avLst/>
                <a:gdLst/>
                <a:ahLst/>
                <a:cxnLst/>
                <a:rect l="l" t="t" r="r" b="b"/>
                <a:pathLst>
                  <a:path w="1508742" h="219118">
                    <a:moveTo>
                      <a:pt x="68925" y="0"/>
                    </a:moveTo>
                    <a:lnTo>
                      <a:pt x="1439816" y="0"/>
                    </a:lnTo>
                    <a:cubicBezTo>
                      <a:pt x="1477883" y="0"/>
                      <a:pt x="1508742" y="30859"/>
                      <a:pt x="1508742" y="68925"/>
                    </a:cubicBezTo>
                    <a:lnTo>
                      <a:pt x="1508742" y="150193"/>
                    </a:lnTo>
                    <a:cubicBezTo>
                      <a:pt x="1508742" y="188259"/>
                      <a:pt x="1477883" y="219118"/>
                      <a:pt x="1439816" y="219118"/>
                    </a:cubicBezTo>
                    <a:lnTo>
                      <a:pt x="68925" y="219118"/>
                    </a:lnTo>
                    <a:cubicBezTo>
                      <a:pt x="30859" y="219118"/>
                      <a:pt x="0" y="188259"/>
                      <a:pt x="0" y="150193"/>
                    </a:cubicBezTo>
                    <a:lnTo>
                      <a:pt x="0" y="68925"/>
                    </a:lnTo>
                    <a:cubicBezTo>
                      <a:pt x="0" y="30859"/>
                      <a:pt x="30859" y="0"/>
                      <a:pt x="68925" y="0"/>
                    </a:cubicBezTo>
                    <a:close/>
                  </a:path>
                </a:pathLst>
              </a:custGeom>
              <a:grpFill/>
            </p:spPr>
            <p:txBody>
              <a:bodyPr/>
              <a:lstStyle/>
              <a:p>
                <a:endParaRPr lang="en-IN" dirty="0"/>
              </a:p>
            </p:txBody>
          </p:sp>
          <p:sp>
            <p:nvSpPr>
              <p:cNvPr id="6" name="TextBox 5">
                <a:extLst>
                  <a:ext uri="{FF2B5EF4-FFF2-40B4-BE49-F238E27FC236}">
                    <a16:creationId xmlns:a16="http://schemas.microsoft.com/office/drawing/2014/main" id="{E0547676-16FF-47E1-DC90-F60969B4E4D8}"/>
                  </a:ext>
                </a:extLst>
              </p:cNvPr>
              <p:cNvSpPr txBox="1"/>
              <p:nvPr/>
            </p:nvSpPr>
            <p:spPr>
              <a:xfrm>
                <a:off x="0" y="-19050"/>
                <a:ext cx="1508742" cy="238168"/>
              </a:xfrm>
              <a:prstGeom prst="rect">
                <a:avLst/>
              </a:prstGeom>
              <a:grpFill/>
            </p:spPr>
            <p:txBody>
              <a:bodyPr lIns="50800" tIns="50800" rIns="50800" bIns="50800" rtlCol="0" anchor="ctr"/>
              <a:lstStyle/>
              <a:p>
                <a:pPr algn="ctr">
                  <a:lnSpc>
                    <a:spcPts val="2098"/>
                  </a:lnSpc>
                </a:pPr>
                <a:endParaRPr/>
              </a:p>
            </p:txBody>
          </p:sp>
        </p:grpSp>
        <p:sp>
          <p:nvSpPr>
            <p:cNvPr id="4" name="TextBox 6">
              <a:extLst>
                <a:ext uri="{FF2B5EF4-FFF2-40B4-BE49-F238E27FC236}">
                  <a16:creationId xmlns:a16="http://schemas.microsoft.com/office/drawing/2014/main" id="{0B8D828C-0BF7-F6C6-3576-59296BEA7049}"/>
                </a:ext>
              </a:extLst>
            </p:cNvPr>
            <p:cNvSpPr txBox="1"/>
            <p:nvPr/>
          </p:nvSpPr>
          <p:spPr>
            <a:xfrm>
              <a:off x="590108" y="38176"/>
              <a:ext cx="6457787" cy="907172"/>
            </a:xfrm>
            <a:prstGeom prst="rect">
              <a:avLst/>
            </a:prstGeom>
            <a:grpFill/>
          </p:spPr>
          <p:txBody>
            <a:bodyPr wrap="square" lIns="0" tIns="0" rIns="0" bIns="0" rtlCol="0" anchor="t">
              <a:spAutoFit/>
            </a:bodyPr>
            <a:lstStyle/>
            <a:p>
              <a:pPr marL="0" algn="ctr" rtl="0" eaLnBrk="1" latinLnBrk="0" hangingPunct="1">
                <a:lnSpc>
                  <a:spcPts val="5599"/>
                </a:lnSpc>
              </a:pPr>
              <a:r>
                <a:rPr lang="en-US" sz="4000" kern="1200" dirty="0">
                  <a:solidFill>
                    <a:srgbClr val="FFFFFF"/>
                  </a:solidFill>
                  <a:effectLst/>
                  <a:latin typeface="Poppins Bold" panose="020B0604020202020204" charset="0"/>
                  <a:ea typeface="+mn-ea"/>
                  <a:cs typeface="+mn-cs"/>
                </a:rPr>
                <a:t>OBJECTIVES</a:t>
              </a:r>
              <a:endParaRPr lang="en-IN" sz="4000" dirty="0">
                <a:effectLst/>
              </a:endParaRPr>
            </a:p>
          </p:txBody>
        </p:sp>
      </p:grpSp>
      <p:pic>
        <p:nvPicPr>
          <p:cNvPr id="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36" t="8255"/>
          <a:stretch/>
        </p:blipFill>
        <p:spPr bwMode="auto">
          <a:xfrm>
            <a:off x="14554200" y="15153"/>
            <a:ext cx="3131234" cy="884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3">
            <a:extLst>
              <a:ext uri="{FF2B5EF4-FFF2-40B4-BE49-F238E27FC236}">
                <a16:creationId xmlns:a16="http://schemas.microsoft.com/office/drawing/2014/main" id="{D8E70C42-99F4-9F92-57DB-D9F8491A7672}"/>
              </a:ext>
            </a:extLst>
          </p:cNvPr>
          <p:cNvSpPr>
            <a:spLocks noChangeArrowheads="1"/>
          </p:cNvSpPr>
          <p:nvPr/>
        </p:nvSpPr>
        <p:spPr bwMode="auto">
          <a:xfrm>
            <a:off x="762000" y="1714500"/>
            <a:ext cx="16535400"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3200" b="1"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Design and develop a robust deep learning framework for accurate prediction of harmful drug–drug interactions using molecular structure data </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3200" b="1"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Implement a Siamese neural network architecture to effectively learn similarity relationships between drug pairs in a shared embedding space </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3200" b="1"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Enhance predictive performance by capturing complex nonlinear patterns beyond traditional machine learning approaches </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3200" b="1"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Ensure strong generalization capability for identifying interactions among previously unseen drug combinations </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3200" b="1"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Provide a scalable and reliable solution to support clinical decision-making and improve patient safety in pharmaceutical applications </a:t>
            </a:r>
          </a:p>
        </p:txBody>
      </p:sp>
    </p:spTree>
    <p:extLst>
      <p:ext uri="{BB962C8B-B14F-4D97-AF65-F5344CB8AC3E}">
        <p14:creationId xmlns:p14="http://schemas.microsoft.com/office/powerpoint/2010/main" val="2322574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
            <a:extLst>
              <a:ext uri="{FF2B5EF4-FFF2-40B4-BE49-F238E27FC236}">
                <a16:creationId xmlns:a16="http://schemas.microsoft.com/office/drawing/2014/main" id="{A981081F-BA3A-40AB-FD9B-D5C08A1696A4}"/>
              </a:ext>
            </a:extLst>
          </p:cNvPr>
          <p:cNvGrpSpPr/>
          <p:nvPr/>
        </p:nvGrpSpPr>
        <p:grpSpPr>
          <a:xfrm>
            <a:off x="3276600" y="428774"/>
            <a:ext cx="10668000" cy="1209526"/>
            <a:chOff x="0" y="0"/>
            <a:chExt cx="7638004" cy="1902874"/>
          </a:xfrm>
          <a:solidFill>
            <a:schemeClr val="accent1"/>
          </a:solidFill>
        </p:grpSpPr>
        <p:grpSp>
          <p:nvGrpSpPr>
            <p:cNvPr id="7" name="Group 3">
              <a:extLst>
                <a:ext uri="{FF2B5EF4-FFF2-40B4-BE49-F238E27FC236}">
                  <a16:creationId xmlns:a16="http://schemas.microsoft.com/office/drawing/2014/main" id="{E83298F1-C577-2148-990E-FB886909A48D}"/>
                </a:ext>
              </a:extLst>
            </p:cNvPr>
            <p:cNvGrpSpPr/>
            <p:nvPr/>
          </p:nvGrpSpPr>
          <p:grpSpPr>
            <a:xfrm>
              <a:off x="0" y="0"/>
              <a:ext cx="7638004" cy="1109285"/>
              <a:chOff x="0" y="0"/>
              <a:chExt cx="1508742" cy="219118"/>
            </a:xfrm>
            <a:grpFill/>
          </p:grpSpPr>
          <p:sp>
            <p:nvSpPr>
              <p:cNvPr id="9" name="Freeform 4">
                <a:extLst>
                  <a:ext uri="{FF2B5EF4-FFF2-40B4-BE49-F238E27FC236}">
                    <a16:creationId xmlns:a16="http://schemas.microsoft.com/office/drawing/2014/main" id="{7EE6D277-5DE3-0760-4DC8-4342C102A68E}"/>
                  </a:ext>
                </a:extLst>
              </p:cNvPr>
              <p:cNvSpPr/>
              <p:nvPr/>
            </p:nvSpPr>
            <p:spPr>
              <a:xfrm>
                <a:off x="0" y="0"/>
                <a:ext cx="1508742" cy="219118"/>
              </a:xfrm>
              <a:custGeom>
                <a:avLst/>
                <a:gdLst/>
                <a:ahLst/>
                <a:cxnLst/>
                <a:rect l="l" t="t" r="r" b="b"/>
                <a:pathLst>
                  <a:path w="1508742" h="219118">
                    <a:moveTo>
                      <a:pt x="68925" y="0"/>
                    </a:moveTo>
                    <a:lnTo>
                      <a:pt x="1439816" y="0"/>
                    </a:lnTo>
                    <a:cubicBezTo>
                      <a:pt x="1477883" y="0"/>
                      <a:pt x="1508742" y="30859"/>
                      <a:pt x="1508742" y="68925"/>
                    </a:cubicBezTo>
                    <a:lnTo>
                      <a:pt x="1508742" y="150193"/>
                    </a:lnTo>
                    <a:cubicBezTo>
                      <a:pt x="1508742" y="188259"/>
                      <a:pt x="1477883" y="219118"/>
                      <a:pt x="1439816" y="219118"/>
                    </a:cubicBezTo>
                    <a:lnTo>
                      <a:pt x="68925" y="219118"/>
                    </a:lnTo>
                    <a:cubicBezTo>
                      <a:pt x="30859" y="219118"/>
                      <a:pt x="0" y="188259"/>
                      <a:pt x="0" y="150193"/>
                    </a:cubicBezTo>
                    <a:lnTo>
                      <a:pt x="0" y="68925"/>
                    </a:lnTo>
                    <a:cubicBezTo>
                      <a:pt x="0" y="30859"/>
                      <a:pt x="30859" y="0"/>
                      <a:pt x="68925" y="0"/>
                    </a:cubicBezTo>
                    <a:close/>
                  </a:path>
                </a:pathLst>
              </a:custGeom>
              <a:grpFill/>
            </p:spPr>
            <p:txBody>
              <a:bodyPr/>
              <a:lstStyle/>
              <a:p>
                <a:endParaRPr lang="en-IN" dirty="0"/>
              </a:p>
            </p:txBody>
          </p:sp>
          <p:sp>
            <p:nvSpPr>
              <p:cNvPr id="10" name="TextBox 9">
                <a:extLst>
                  <a:ext uri="{FF2B5EF4-FFF2-40B4-BE49-F238E27FC236}">
                    <a16:creationId xmlns:a16="http://schemas.microsoft.com/office/drawing/2014/main" id="{E2B39773-8BFA-5C92-E6D0-6085D46F33E2}"/>
                  </a:ext>
                </a:extLst>
              </p:cNvPr>
              <p:cNvSpPr txBox="1"/>
              <p:nvPr/>
            </p:nvSpPr>
            <p:spPr>
              <a:xfrm>
                <a:off x="0" y="-19050"/>
                <a:ext cx="1508742" cy="238168"/>
              </a:xfrm>
              <a:prstGeom prst="rect">
                <a:avLst/>
              </a:prstGeom>
              <a:grpFill/>
            </p:spPr>
            <p:txBody>
              <a:bodyPr lIns="50800" tIns="50800" rIns="50800" bIns="50800" rtlCol="0" anchor="ctr"/>
              <a:lstStyle/>
              <a:p>
                <a:pPr algn="ctr">
                  <a:lnSpc>
                    <a:spcPts val="2098"/>
                  </a:lnSpc>
                </a:pPr>
                <a:endParaRPr/>
              </a:p>
            </p:txBody>
          </p:sp>
        </p:grpSp>
        <p:sp>
          <p:nvSpPr>
            <p:cNvPr id="8" name="TextBox 6">
              <a:extLst>
                <a:ext uri="{FF2B5EF4-FFF2-40B4-BE49-F238E27FC236}">
                  <a16:creationId xmlns:a16="http://schemas.microsoft.com/office/drawing/2014/main" id="{F4AD31A2-5C04-E3E2-C759-8E683A03F5E6}"/>
                </a:ext>
              </a:extLst>
            </p:cNvPr>
            <p:cNvSpPr txBox="1"/>
            <p:nvPr/>
          </p:nvSpPr>
          <p:spPr>
            <a:xfrm>
              <a:off x="590108" y="38176"/>
              <a:ext cx="6457787" cy="1864698"/>
            </a:xfrm>
            <a:prstGeom prst="rect">
              <a:avLst/>
            </a:prstGeom>
            <a:grpFill/>
          </p:spPr>
          <p:txBody>
            <a:bodyPr wrap="square" lIns="0" tIns="0" rIns="0" bIns="0" rtlCol="0" anchor="t">
              <a:spAutoFit/>
            </a:bodyPr>
            <a:lstStyle/>
            <a:p>
              <a:pPr marL="0" algn="ctr" rtl="0" eaLnBrk="1" latinLnBrk="0" hangingPunct="1">
                <a:lnSpc>
                  <a:spcPts val="5599"/>
                </a:lnSpc>
              </a:pPr>
              <a:r>
                <a:rPr lang="en-US" sz="4000" kern="1200" dirty="0">
                  <a:solidFill>
                    <a:srgbClr val="FFFFFF"/>
                  </a:solidFill>
                  <a:effectLst/>
                  <a:latin typeface="Poppins Bold" panose="020B0604020202020204" charset="0"/>
                  <a:ea typeface="+mn-ea"/>
                  <a:cs typeface="+mn-cs"/>
                </a:rPr>
                <a:t>EXISTING SYSTEM AND LIMITATIONS</a:t>
              </a:r>
              <a:endParaRPr lang="en-IN" sz="4000" dirty="0">
                <a:effectLst/>
              </a:endParaRPr>
            </a:p>
          </p:txBody>
        </p:sp>
      </p:grpSp>
      <p:sp>
        <p:nvSpPr>
          <p:cNvPr id="11" name="TextBox 7">
            <a:extLst>
              <a:ext uri="{FF2B5EF4-FFF2-40B4-BE49-F238E27FC236}">
                <a16:creationId xmlns:a16="http://schemas.microsoft.com/office/drawing/2014/main" id="{C769DF89-D792-73D4-7F31-10CD78E26553}"/>
              </a:ext>
            </a:extLst>
          </p:cNvPr>
          <p:cNvSpPr txBox="1"/>
          <p:nvPr/>
        </p:nvSpPr>
        <p:spPr>
          <a:xfrm>
            <a:off x="1028700" y="1289050"/>
            <a:ext cx="16230600" cy="522579"/>
          </a:xfrm>
          <a:prstGeom prst="rect">
            <a:avLst/>
          </a:prstGeom>
        </p:spPr>
        <p:txBody>
          <a:bodyPr wrap="square" lIns="0" tIns="0" rIns="0" bIns="0" rtlCol="0" anchor="t">
            <a:spAutoFit/>
          </a:bodyPr>
          <a:lstStyle/>
          <a:p>
            <a:pPr marL="342900" indent="-342900" algn="just">
              <a:lnSpc>
                <a:spcPct val="150000"/>
              </a:lnSpc>
              <a:buFont typeface="Arial" panose="020B0604020202020204" pitchFamily="34" charset="0"/>
              <a:buChar char="•"/>
            </a:pPr>
            <a:endParaRPr lang="en-US" sz="2500" dirty="0">
              <a:latin typeface="Poppins Bold" panose="020B0604020202020204" charset="0"/>
              <a:cs typeface="Poppins Bold" panose="020B0604020202020204" charset="0"/>
            </a:endParaRPr>
          </a:p>
        </p:txBody>
      </p:sp>
      <p:pic>
        <p:nvPicPr>
          <p:cNvPr id="1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36" t="8255"/>
          <a:stretch/>
        </p:blipFill>
        <p:spPr bwMode="auto">
          <a:xfrm>
            <a:off x="14401800" y="-39750"/>
            <a:ext cx="3131234" cy="884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Table 2">
            <a:extLst>
              <a:ext uri="{FF2B5EF4-FFF2-40B4-BE49-F238E27FC236}">
                <a16:creationId xmlns:a16="http://schemas.microsoft.com/office/drawing/2014/main" id="{4BADAAC6-FA2D-6D75-F7DA-36D3F78BD111}"/>
              </a:ext>
            </a:extLst>
          </p:cNvPr>
          <p:cNvGraphicFramePr>
            <a:graphicFrameLocks noGrp="1"/>
          </p:cNvGraphicFramePr>
          <p:nvPr>
            <p:extLst>
              <p:ext uri="{D42A27DB-BD31-4B8C-83A1-F6EECF244321}">
                <p14:modId xmlns:p14="http://schemas.microsoft.com/office/powerpoint/2010/main" val="3038738843"/>
              </p:ext>
            </p:extLst>
          </p:nvPr>
        </p:nvGraphicFramePr>
        <p:xfrm>
          <a:off x="1638299" y="2093998"/>
          <a:ext cx="15011402" cy="7620000"/>
        </p:xfrm>
        <a:graphic>
          <a:graphicData uri="http://schemas.openxmlformats.org/drawingml/2006/table">
            <a:tbl>
              <a:tblPr>
                <a:tableStyleId>{8FD4443E-F989-4FC4-A0C8-D5A2AF1F390B}</a:tableStyleId>
              </a:tblPr>
              <a:tblGrid>
                <a:gridCol w="3008170">
                  <a:extLst>
                    <a:ext uri="{9D8B030D-6E8A-4147-A177-3AD203B41FA5}">
                      <a16:colId xmlns:a16="http://schemas.microsoft.com/office/drawing/2014/main" val="544640834"/>
                    </a:ext>
                  </a:extLst>
                </a:gridCol>
                <a:gridCol w="3000808">
                  <a:extLst>
                    <a:ext uri="{9D8B030D-6E8A-4147-A177-3AD203B41FA5}">
                      <a16:colId xmlns:a16="http://schemas.microsoft.com/office/drawing/2014/main" val="2402339292"/>
                    </a:ext>
                  </a:extLst>
                </a:gridCol>
                <a:gridCol w="3000808">
                  <a:extLst>
                    <a:ext uri="{9D8B030D-6E8A-4147-A177-3AD203B41FA5}">
                      <a16:colId xmlns:a16="http://schemas.microsoft.com/office/drawing/2014/main" val="3140551943"/>
                    </a:ext>
                  </a:extLst>
                </a:gridCol>
                <a:gridCol w="3000808">
                  <a:extLst>
                    <a:ext uri="{9D8B030D-6E8A-4147-A177-3AD203B41FA5}">
                      <a16:colId xmlns:a16="http://schemas.microsoft.com/office/drawing/2014/main" val="2070396761"/>
                    </a:ext>
                  </a:extLst>
                </a:gridCol>
                <a:gridCol w="3000808">
                  <a:extLst>
                    <a:ext uri="{9D8B030D-6E8A-4147-A177-3AD203B41FA5}">
                      <a16:colId xmlns:a16="http://schemas.microsoft.com/office/drawing/2014/main" val="2899944577"/>
                    </a:ext>
                  </a:extLst>
                </a:gridCol>
              </a:tblGrid>
              <a:tr h="961840">
                <a:tc>
                  <a:txBody>
                    <a:bodyPr/>
                    <a:lstStyle/>
                    <a:p>
                      <a:pPr algn="ctr">
                        <a:buNone/>
                      </a:pPr>
                      <a:r>
                        <a:rPr lang="en-US" sz="2200" dirty="0"/>
                        <a:t>Year</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a:t>Model</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dirty="0"/>
                        <a:t>Algorithms Used</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a:t>Accuracy</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a:t>Drawback</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7314834"/>
                  </a:ext>
                </a:extLst>
              </a:tr>
              <a:tr h="1571491">
                <a:tc>
                  <a:txBody>
                    <a:bodyPr/>
                    <a:lstStyle/>
                    <a:p>
                      <a:pPr algn="ctr">
                        <a:buNone/>
                      </a:pPr>
                      <a:r>
                        <a:rPr lang="en-US" sz="2200" dirty="0"/>
                        <a:t>2024</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dirty="0"/>
                        <a:t>Deep Neural Network for DDI Prediction</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a:t>Deep Neural Networks (DNN), Molecular Fingerprints</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dirty="0"/>
                        <a:t>~94%</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a:t>Requires large labeled data; limited interpretability of learned features</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9814876"/>
                  </a:ext>
                </a:extLst>
              </a:tr>
              <a:tr h="1943687">
                <a:tc>
                  <a:txBody>
                    <a:bodyPr/>
                    <a:lstStyle/>
                    <a:p>
                      <a:pPr algn="ctr">
                        <a:buNone/>
                      </a:pPr>
                      <a:r>
                        <a:rPr lang="en-US" sz="2200"/>
                        <a:t>2023</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dirty="0"/>
                        <a:t>Machine Learning-Based DDI Prediction</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nb-NO" sz="2200" dirty="0"/>
                        <a:t>Random Forest, SVM, Gradient Boosting</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dirty="0"/>
                        <a:t>~91–93%</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a:t>Cannot capture complex nonlinear biochemical relationships effectively</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8605826"/>
                  </a:ext>
                </a:extLst>
              </a:tr>
              <a:tr h="1571491">
                <a:tc>
                  <a:txBody>
                    <a:bodyPr/>
                    <a:lstStyle/>
                    <a:p>
                      <a:pPr algn="ctr">
                        <a:buNone/>
                      </a:pPr>
                      <a:r>
                        <a:rPr lang="en-US" sz="2200"/>
                        <a:t>2022</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a:t>Similarity-Based DDI Models</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dirty="0"/>
                        <a:t>Molecular Similarity, Feature Engineering</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dirty="0"/>
                        <a:t>~89–91%</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dirty="0"/>
                        <a:t>Depends heavily on handcrafted features; limited scalability</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3743111"/>
                  </a:ext>
                </a:extLst>
              </a:tr>
              <a:tr h="1571491">
                <a:tc>
                  <a:txBody>
                    <a:bodyPr/>
                    <a:lstStyle/>
                    <a:p>
                      <a:pPr algn="ctr">
                        <a:buNone/>
                      </a:pPr>
                      <a:r>
                        <a:rPr lang="en-US" sz="2200"/>
                        <a:t>2021</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a:t>Statistical &amp; Data Mining Approaches</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a:t>Association Rules, Clinical Data Mining</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a:t>~85–88%</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200" dirty="0"/>
                        <a:t>Incomplete data coverage; high false positives and delayed detection</a:t>
                      </a:r>
                    </a:p>
                  </a:txBody>
                  <a:tcPr marL="75905" marR="75905" marT="37952" marB="379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515963"/>
                  </a:ext>
                </a:extLst>
              </a:tr>
            </a:tbl>
          </a:graphicData>
        </a:graphic>
      </p:graphicFrame>
    </p:spTree>
    <p:extLst>
      <p:ext uri="{BB962C8B-B14F-4D97-AF65-F5344CB8AC3E}">
        <p14:creationId xmlns:p14="http://schemas.microsoft.com/office/powerpoint/2010/main" val="306164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70BF2-7ACA-3A97-5DFB-67EC93DE4529}"/>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E487A4AD-24E6-3D97-EE16-3AA2C6F85E7A}"/>
              </a:ext>
            </a:extLst>
          </p:cNvPr>
          <p:cNvGrpSpPr/>
          <p:nvPr/>
        </p:nvGrpSpPr>
        <p:grpSpPr>
          <a:xfrm>
            <a:off x="3276600" y="428774"/>
            <a:ext cx="10439400" cy="1382855"/>
            <a:chOff x="0" y="0"/>
            <a:chExt cx="7638004" cy="1902874"/>
          </a:xfrm>
          <a:solidFill>
            <a:schemeClr val="accent1"/>
          </a:solidFill>
        </p:grpSpPr>
        <p:grpSp>
          <p:nvGrpSpPr>
            <p:cNvPr id="7" name="Group 3">
              <a:extLst>
                <a:ext uri="{FF2B5EF4-FFF2-40B4-BE49-F238E27FC236}">
                  <a16:creationId xmlns:a16="http://schemas.microsoft.com/office/drawing/2014/main" id="{DE42CD6B-F98E-3E4B-0953-189026A6B87B}"/>
                </a:ext>
              </a:extLst>
            </p:cNvPr>
            <p:cNvGrpSpPr/>
            <p:nvPr/>
          </p:nvGrpSpPr>
          <p:grpSpPr>
            <a:xfrm>
              <a:off x="0" y="0"/>
              <a:ext cx="7638004" cy="1109285"/>
              <a:chOff x="0" y="0"/>
              <a:chExt cx="1508742" cy="219118"/>
            </a:xfrm>
            <a:grpFill/>
          </p:grpSpPr>
          <p:sp>
            <p:nvSpPr>
              <p:cNvPr id="9" name="Freeform 4">
                <a:extLst>
                  <a:ext uri="{FF2B5EF4-FFF2-40B4-BE49-F238E27FC236}">
                    <a16:creationId xmlns:a16="http://schemas.microsoft.com/office/drawing/2014/main" id="{672A686F-48AF-8B5B-3562-477366EB30AD}"/>
                  </a:ext>
                </a:extLst>
              </p:cNvPr>
              <p:cNvSpPr/>
              <p:nvPr/>
            </p:nvSpPr>
            <p:spPr>
              <a:xfrm>
                <a:off x="0" y="0"/>
                <a:ext cx="1508742" cy="219118"/>
              </a:xfrm>
              <a:custGeom>
                <a:avLst/>
                <a:gdLst/>
                <a:ahLst/>
                <a:cxnLst/>
                <a:rect l="l" t="t" r="r" b="b"/>
                <a:pathLst>
                  <a:path w="1508742" h="219118">
                    <a:moveTo>
                      <a:pt x="68925" y="0"/>
                    </a:moveTo>
                    <a:lnTo>
                      <a:pt x="1439816" y="0"/>
                    </a:lnTo>
                    <a:cubicBezTo>
                      <a:pt x="1477883" y="0"/>
                      <a:pt x="1508742" y="30859"/>
                      <a:pt x="1508742" y="68925"/>
                    </a:cubicBezTo>
                    <a:lnTo>
                      <a:pt x="1508742" y="150193"/>
                    </a:lnTo>
                    <a:cubicBezTo>
                      <a:pt x="1508742" y="188259"/>
                      <a:pt x="1477883" y="219118"/>
                      <a:pt x="1439816" y="219118"/>
                    </a:cubicBezTo>
                    <a:lnTo>
                      <a:pt x="68925" y="219118"/>
                    </a:lnTo>
                    <a:cubicBezTo>
                      <a:pt x="30859" y="219118"/>
                      <a:pt x="0" y="188259"/>
                      <a:pt x="0" y="150193"/>
                    </a:cubicBezTo>
                    <a:lnTo>
                      <a:pt x="0" y="68925"/>
                    </a:lnTo>
                    <a:cubicBezTo>
                      <a:pt x="0" y="30859"/>
                      <a:pt x="30859" y="0"/>
                      <a:pt x="68925" y="0"/>
                    </a:cubicBezTo>
                    <a:close/>
                  </a:path>
                </a:pathLst>
              </a:custGeom>
              <a:grpFill/>
            </p:spPr>
            <p:txBody>
              <a:bodyPr/>
              <a:lstStyle/>
              <a:p>
                <a:endParaRPr lang="en-IN" dirty="0"/>
              </a:p>
            </p:txBody>
          </p:sp>
          <p:sp>
            <p:nvSpPr>
              <p:cNvPr id="10" name="TextBox 9">
                <a:extLst>
                  <a:ext uri="{FF2B5EF4-FFF2-40B4-BE49-F238E27FC236}">
                    <a16:creationId xmlns:a16="http://schemas.microsoft.com/office/drawing/2014/main" id="{05563649-5010-D2AC-5319-F54A4A870E6B}"/>
                  </a:ext>
                </a:extLst>
              </p:cNvPr>
              <p:cNvSpPr txBox="1"/>
              <p:nvPr/>
            </p:nvSpPr>
            <p:spPr>
              <a:xfrm>
                <a:off x="0" y="-19050"/>
                <a:ext cx="1508742" cy="238168"/>
              </a:xfrm>
              <a:prstGeom prst="rect">
                <a:avLst/>
              </a:prstGeom>
              <a:grpFill/>
            </p:spPr>
            <p:txBody>
              <a:bodyPr lIns="50800" tIns="50800" rIns="50800" bIns="50800" rtlCol="0" anchor="ctr"/>
              <a:lstStyle/>
              <a:p>
                <a:pPr algn="ctr">
                  <a:lnSpc>
                    <a:spcPts val="2098"/>
                  </a:lnSpc>
                </a:pPr>
                <a:endParaRPr/>
              </a:p>
            </p:txBody>
          </p:sp>
        </p:grpSp>
        <p:sp>
          <p:nvSpPr>
            <p:cNvPr id="8" name="TextBox 6">
              <a:extLst>
                <a:ext uri="{FF2B5EF4-FFF2-40B4-BE49-F238E27FC236}">
                  <a16:creationId xmlns:a16="http://schemas.microsoft.com/office/drawing/2014/main" id="{F931DDC7-F3E7-C373-C136-FE8F8F523D2B}"/>
                </a:ext>
              </a:extLst>
            </p:cNvPr>
            <p:cNvSpPr txBox="1"/>
            <p:nvPr/>
          </p:nvSpPr>
          <p:spPr>
            <a:xfrm>
              <a:off x="590108" y="38176"/>
              <a:ext cx="6457787" cy="1864698"/>
            </a:xfrm>
            <a:prstGeom prst="rect">
              <a:avLst/>
            </a:prstGeom>
            <a:grpFill/>
          </p:spPr>
          <p:txBody>
            <a:bodyPr wrap="square" lIns="0" tIns="0" rIns="0" bIns="0" rtlCol="0" anchor="t">
              <a:spAutoFit/>
            </a:bodyPr>
            <a:lstStyle/>
            <a:p>
              <a:pPr marL="0" algn="ctr" rtl="0" eaLnBrk="1" latinLnBrk="0" hangingPunct="1">
                <a:lnSpc>
                  <a:spcPts val="5599"/>
                </a:lnSpc>
              </a:pPr>
              <a:r>
                <a:rPr lang="en-US" sz="4000" kern="1200" dirty="0">
                  <a:solidFill>
                    <a:srgbClr val="FFFFFF"/>
                  </a:solidFill>
                  <a:effectLst/>
                  <a:latin typeface="Poppins Bold" panose="020B0604020202020204" charset="0"/>
                  <a:ea typeface="+mn-ea"/>
                  <a:cs typeface="+mn-cs"/>
                </a:rPr>
                <a:t>EXISTING SYSTEM AND LIMITATIONS</a:t>
              </a:r>
              <a:endParaRPr lang="en-IN" sz="4000" dirty="0">
                <a:effectLst/>
              </a:endParaRPr>
            </a:p>
          </p:txBody>
        </p:sp>
      </p:grpSp>
      <p:sp>
        <p:nvSpPr>
          <p:cNvPr id="11" name="TextBox 7">
            <a:extLst>
              <a:ext uri="{FF2B5EF4-FFF2-40B4-BE49-F238E27FC236}">
                <a16:creationId xmlns:a16="http://schemas.microsoft.com/office/drawing/2014/main" id="{D42C201B-5963-60D7-8C56-57B130E34CD4}"/>
              </a:ext>
            </a:extLst>
          </p:cNvPr>
          <p:cNvSpPr txBox="1"/>
          <p:nvPr/>
        </p:nvSpPr>
        <p:spPr>
          <a:xfrm>
            <a:off x="1028700" y="1289050"/>
            <a:ext cx="16230600" cy="522579"/>
          </a:xfrm>
          <a:prstGeom prst="rect">
            <a:avLst/>
          </a:prstGeom>
        </p:spPr>
        <p:txBody>
          <a:bodyPr wrap="square" lIns="0" tIns="0" rIns="0" bIns="0" rtlCol="0" anchor="t">
            <a:spAutoFit/>
          </a:bodyPr>
          <a:lstStyle/>
          <a:p>
            <a:pPr marL="342900" indent="-342900" algn="just">
              <a:lnSpc>
                <a:spcPct val="150000"/>
              </a:lnSpc>
              <a:buFont typeface="Arial" panose="020B0604020202020204" pitchFamily="34" charset="0"/>
              <a:buChar char="•"/>
            </a:pPr>
            <a:endParaRPr lang="en-US" sz="2500" dirty="0">
              <a:latin typeface="Poppins Bold" panose="020B0604020202020204" charset="0"/>
              <a:cs typeface="Poppins Bold" panose="020B0604020202020204" charset="0"/>
            </a:endParaRPr>
          </a:p>
        </p:txBody>
      </p:sp>
      <p:pic>
        <p:nvPicPr>
          <p:cNvPr id="13" name="Picture 2">
            <a:extLst>
              <a:ext uri="{FF2B5EF4-FFF2-40B4-BE49-F238E27FC236}">
                <a16:creationId xmlns:a16="http://schemas.microsoft.com/office/drawing/2014/main" id="{9BEE007A-C967-2032-881A-87A7D2D6C53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36" t="8255"/>
          <a:stretch/>
        </p:blipFill>
        <p:spPr bwMode="auto">
          <a:xfrm>
            <a:off x="14401800" y="-39750"/>
            <a:ext cx="3131234" cy="884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a:extLst>
              <a:ext uri="{FF2B5EF4-FFF2-40B4-BE49-F238E27FC236}">
                <a16:creationId xmlns:a16="http://schemas.microsoft.com/office/drawing/2014/main" id="{F4B9AA20-1175-464C-D04D-75A2EA4453F0}"/>
              </a:ext>
            </a:extLst>
          </p:cNvPr>
          <p:cNvGraphicFramePr>
            <a:graphicFrameLocks noGrp="1"/>
          </p:cNvGraphicFramePr>
          <p:nvPr>
            <p:extLst>
              <p:ext uri="{D42A27DB-BD31-4B8C-83A1-F6EECF244321}">
                <p14:modId xmlns:p14="http://schemas.microsoft.com/office/powerpoint/2010/main" val="3667248588"/>
              </p:ext>
            </p:extLst>
          </p:nvPr>
        </p:nvGraphicFramePr>
        <p:xfrm>
          <a:off x="1257300" y="2781300"/>
          <a:ext cx="15773400" cy="3337560"/>
        </p:xfrm>
        <a:graphic>
          <a:graphicData uri="http://schemas.openxmlformats.org/drawingml/2006/table">
            <a:tbl>
              <a:tblPr>
                <a:tableStyleId>{327F97BB-C833-4FB7-BDE5-3F7075034690}</a:tableStyleId>
              </a:tblPr>
              <a:tblGrid>
                <a:gridCol w="3154680">
                  <a:extLst>
                    <a:ext uri="{9D8B030D-6E8A-4147-A177-3AD203B41FA5}">
                      <a16:colId xmlns:a16="http://schemas.microsoft.com/office/drawing/2014/main" val="2883892937"/>
                    </a:ext>
                  </a:extLst>
                </a:gridCol>
                <a:gridCol w="3154680">
                  <a:extLst>
                    <a:ext uri="{9D8B030D-6E8A-4147-A177-3AD203B41FA5}">
                      <a16:colId xmlns:a16="http://schemas.microsoft.com/office/drawing/2014/main" val="188144854"/>
                    </a:ext>
                  </a:extLst>
                </a:gridCol>
                <a:gridCol w="3154680">
                  <a:extLst>
                    <a:ext uri="{9D8B030D-6E8A-4147-A177-3AD203B41FA5}">
                      <a16:colId xmlns:a16="http://schemas.microsoft.com/office/drawing/2014/main" val="1738052857"/>
                    </a:ext>
                  </a:extLst>
                </a:gridCol>
                <a:gridCol w="3154680">
                  <a:extLst>
                    <a:ext uri="{9D8B030D-6E8A-4147-A177-3AD203B41FA5}">
                      <a16:colId xmlns:a16="http://schemas.microsoft.com/office/drawing/2014/main" val="3957251496"/>
                    </a:ext>
                  </a:extLst>
                </a:gridCol>
                <a:gridCol w="3154680">
                  <a:extLst>
                    <a:ext uri="{9D8B030D-6E8A-4147-A177-3AD203B41FA5}">
                      <a16:colId xmlns:a16="http://schemas.microsoft.com/office/drawing/2014/main" val="2747593857"/>
                    </a:ext>
                  </a:extLst>
                </a:gridCol>
              </a:tblGrid>
              <a:tr h="0">
                <a:tc>
                  <a:txBody>
                    <a:bodyPr/>
                    <a:lstStyle/>
                    <a:p>
                      <a:pPr algn="ctr">
                        <a:buNone/>
                      </a:pPr>
                      <a:r>
                        <a:rPr lang="en-US"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t>Precision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t>Recall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t>F1 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962645"/>
                  </a:ext>
                </a:extLst>
              </a:tr>
              <a:tr h="0">
                <a:tc>
                  <a:txBody>
                    <a:bodyPr/>
                    <a:lstStyle/>
                    <a:p>
                      <a:pPr algn="ctr">
                        <a:buNone/>
                      </a:pPr>
                      <a:r>
                        <a:rPr lang="en-US" dirty="0"/>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t>0.91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t>0.89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t>0.92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t>0.90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677696"/>
                  </a:ext>
                </a:extLst>
              </a:tr>
              <a:tr h="0">
                <a:tc>
                  <a:txBody>
                    <a:bodyPr/>
                    <a:lstStyle/>
                    <a:p>
                      <a:pPr algn="ctr">
                        <a:buNone/>
                      </a:pPr>
                      <a:r>
                        <a:rPr lang="en-US" dirty="0"/>
                        <a:t>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dirty="0"/>
                        <a:t>0.90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t>0.88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t>0.91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t>0.89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385017"/>
                  </a:ext>
                </a:extLst>
              </a:tr>
              <a:tr h="0">
                <a:tc>
                  <a:txBody>
                    <a:bodyPr/>
                    <a:lstStyle/>
                    <a:p>
                      <a:pPr algn="ctr">
                        <a:buNone/>
                      </a:pPr>
                      <a:r>
                        <a:rPr lang="en-US"/>
                        <a:t>Deep Neural Network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dirty="0"/>
                        <a:t>0.94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t>0.93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dirty="0"/>
                        <a:t>0.95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dirty="0"/>
                        <a:t>0.94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8242144"/>
                  </a:ext>
                </a:extLst>
              </a:tr>
              <a:tr h="0">
                <a:tc>
                  <a:txBody>
                    <a:bodyPr/>
                    <a:lstStyle/>
                    <a:p>
                      <a:pPr algn="ctr">
                        <a:buNone/>
                      </a:pPr>
                      <a:r>
                        <a:rPr lang="en-US" b="1"/>
                        <a:t>Siamese Model (Proposed)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b="1"/>
                        <a:t>0.9712</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b="1" dirty="0"/>
                        <a:t>0.9557</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b="1" dirty="0"/>
                        <a:t>0.9911</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b="1" dirty="0"/>
                        <a:t>0.9731</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7722519"/>
                  </a:ext>
                </a:extLst>
              </a:tr>
            </a:tbl>
          </a:graphicData>
        </a:graphic>
      </p:graphicFrame>
    </p:spTree>
    <p:extLst>
      <p:ext uri="{BB962C8B-B14F-4D97-AF65-F5344CB8AC3E}">
        <p14:creationId xmlns:p14="http://schemas.microsoft.com/office/powerpoint/2010/main" val="2630323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279748" y="428774"/>
            <a:ext cx="5728503" cy="831964"/>
            <a:chOff x="0" y="0"/>
            <a:chExt cx="7638004" cy="1109285"/>
          </a:xfrm>
          <a:solidFill>
            <a:schemeClr val="accent1"/>
          </a:solidFill>
        </p:grpSpPr>
        <p:grpSp>
          <p:nvGrpSpPr>
            <p:cNvPr id="3" name="Group 3"/>
            <p:cNvGrpSpPr/>
            <p:nvPr/>
          </p:nvGrpSpPr>
          <p:grpSpPr>
            <a:xfrm>
              <a:off x="0" y="0"/>
              <a:ext cx="7638004" cy="1109285"/>
              <a:chOff x="0" y="0"/>
              <a:chExt cx="1508742" cy="219118"/>
            </a:xfrm>
            <a:grpFill/>
          </p:grpSpPr>
          <p:sp>
            <p:nvSpPr>
              <p:cNvPr id="4" name="Freeform 4"/>
              <p:cNvSpPr/>
              <p:nvPr/>
            </p:nvSpPr>
            <p:spPr>
              <a:xfrm>
                <a:off x="0" y="0"/>
                <a:ext cx="1508742" cy="219118"/>
              </a:xfrm>
              <a:custGeom>
                <a:avLst/>
                <a:gdLst/>
                <a:ahLst/>
                <a:cxnLst/>
                <a:rect l="l" t="t" r="r" b="b"/>
                <a:pathLst>
                  <a:path w="1508742" h="219118">
                    <a:moveTo>
                      <a:pt x="68925" y="0"/>
                    </a:moveTo>
                    <a:lnTo>
                      <a:pt x="1439816" y="0"/>
                    </a:lnTo>
                    <a:cubicBezTo>
                      <a:pt x="1477883" y="0"/>
                      <a:pt x="1508742" y="30859"/>
                      <a:pt x="1508742" y="68925"/>
                    </a:cubicBezTo>
                    <a:lnTo>
                      <a:pt x="1508742" y="150193"/>
                    </a:lnTo>
                    <a:cubicBezTo>
                      <a:pt x="1508742" y="188259"/>
                      <a:pt x="1477883" y="219118"/>
                      <a:pt x="1439816" y="219118"/>
                    </a:cubicBezTo>
                    <a:lnTo>
                      <a:pt x="68925" y="219118"/>
                    </a:lnTo>
                    <a:cubicBezTo>
                      <a:pt x="30859" y="219118"/>
                      <a:pt x="0" y="188259"/>
                      <a:pt x="0" y="150193"/>
                    </a:cubicBezTo>
                    <a:lnTo>
                      <a:pt x="0" y="68925"/>
                    </a:lnTo>
                    <a:cubicBezTo>
                      <a:pt x="0" y="30859"/>
                      <a:pt x="30859" y="0"/>
                      <a:pt x="68925" y="0"/>
                    </a:cubicBezTo>
                    <a:close/>
                  </a:path>
                </a:pathLst>
              </a:custGeom>
              <a:grpFill/>
            </p:spPr>
          </p:sp>
          <p:sp>
            <p:nvSpPr>
              <p:cNvPr id="5" name="TextBox 5"/>
              <p:cNvSpPr txBox="1"/>
              <p:nvPr/>
            </p:nvSpPr>
            <p:spPr>
              <a:xfrm>
                <a:off x="0" y="-19050"/>
                <a:ext cx="1508742" cy="238168"/>
              </a:xfrm>
              <a:prstGeom prst="rect">
                <a:avLst/>
              </a:prstGeom>
              <a:grpFill/>
            </p:spPr>
            <p:txBody>
              <a:bodyPr lIns="50800" tIns="50800" rIns="50800" bIns="50800" rtlCol="0" anchor="ctr"/>
              <a:lstStyle/>
              <a:p>
                <a:pPr algn="ctr">
                  <a:lnSpc>
                    <a:spcPts val="2098"/>
                  </a:lnSpc>
                </a:pPr>
                <a:endParaRPr/>
              </a:p>
            </p:txBody>
          </p:sp>
        </p:grpSp>
        <p:sp>
          <p:nvSpPr>
            <p:cNvPr id="6" name="TextBox 6"/>
            <p:cNvSpPr txBox="1"/>
            <p:nvPr/>
          </p:nvSpPr>
          <p:spPr>
            <a:xfrm>
              <a:off x="590109" y="38176"/>
              <a:ext cx="6457787" cy="918633"/>
            </a:xfrm>
            <a:prstGeom prst="rect">
              <a:avLst/>
            </a:prstGeom>
            <a:grpFill/>
          </p:spPr>
          <p:txBody>
            <a:bodyPr lIns="0" tIns="0" rIns="0" bIns="0" rtlCol="0" anchor="t">
              <a:spAutoFit/>
            </a:bodyPr>
            <a:lstStyle/>
            <a:p>
              <a:pPr algn="ctr">
                <a:lnSpc>
                  <a:spcPts val="5599"/>
                </a:lnSpc>
              </a:pPr>
              <a:r>
                <a:rPr lang="en-US" sz="3999" dirty="0">
                  <a:solidFill>
                    <a:srgbClr val="FFFFFF"/>
                  </a:solidFill>
                  <a:latin typeface="Poppins Bold"/>
                </a:rPr>
                <a:t>PROPOSED SYSTEM</a:t>
              </a:r>
            </a:p>
          </p:txBody>
        </p:sp>
      </p:grpSp>
      <p:sp>
        <p:nvSpPr>
          <p:cNvPr id="7" name="TextBox 7"/>
          <p:cNvSpPr txBox="1"/>
          <p:nvPr/>
        </p:nvSpPr>
        <p:spPr>
          <a:xfrm>
            <a:off x="762000" y="1866900"/>
            <a:ext cx="16230600" cy="7006342"/>
          </a:xfrm>
          <a:prstGeom prst="rect">
            <a:avLst/>
          </a:prstGeom>
        </p:spPr>
        <p:txBody>
          <a:bodyPr lIns="0" tIns="0" rIns="0" bIns="0" rtlCol="0" anchor="t">
            <a:spAutoFit/>
          </a:bodyPr>
          <a:lstStyle/>
          <a:p>
            <a:pPr algn="just">
              <a:lnSpc>
                <a:spcPts val="4999"/>
              </a:lnSpc>
            </a:pPr>
            <a:r>
              <a:rPr lang="en-US" sz="3200" b="1" dirty="0"/>
              <a:t>The proposed system adopts a pairwise learning strategy to predict harmful drug–drug interactions by directly modeling the relationship between two drugs rather than analyzing them independently. It leverages molecular fingerprint representations to encode chemical structure information into numerical form. A Siamese neural network with shared parameters processes both drugs simultaneously, enabling the model to learn deep structural similarities and interaction patterns in a unified embedding space. These learned representations are then combined and evaluated by a classification layer to determine the likelihood of an adverse interaction. This approach enhances the model’s ability to capture complex biochemical relationships, improves prediction reliability, and ensures strong performance even on previously unseen drug combinations, making it suitable for real-world clinical and research applications.</a:t>
            </a:r>
            <a:endParaRPr lang="en-US" sz="3200" b="1" dirty="0">
              <a:solidFill>
                <a:srgbClr val="000000"/>
              </a:solidFill>
              <a:latin typeface="Poppins Bold" panose="00000800000000000000" charset="0"/>
              <a:cs typeface="Poppins Bold" panose="00000800000000000000" charset="0"/>
            </a:endParaRPr>
          </a:p>
        </p:txBody>
      </p:sp>
      <p:pic>
        <p:nvPicPr>
          <p:cNvPr id="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36" t="8255"/>
          <a:stretch/>
        </p:blipFill>
        <p:spPr bwMode="auto">
          <a:xfrm>
            <a:off x="13639800" y="0"/>
            <a:ext cx="3131234"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E76641B1-0636-54C3-FBF5-05017304E7F4}"/>
              </a:ext>
            </a:extLst>
          </p:cNvPr>
          <p:cNvGrpSpPr/>
          <p:nvPr/>
        </p:nvGrpSpPr>
        <p:grpSpPr>
          <a:xfrm>
            <a:off x="6279748" y="428774"/>
            <a:ext cx="5728503" cy="831964"/>
            <a:chOff x="0" y="0"/>
            <a:chExt cx="7638004" cy="1109285"/>
          </a:xfrm>
          <a:solidFill>
            <a:schemeClr val="accent1"/>
          </a:solidFill>
        </p:grpSpPr>
        <p:grpSp>
          <p:nvGrpSpPr>
            <p:cNvPr id="3" name="Group 3">
              <a:extLst>
                <a:ext uri="{FF2B5EF4-FFF2-40B4-BE49-F238E27FC236}">
                  <a16:creationId xmlns:a16="http://schemas.microsoft.com/office/drawing/2014/main" id="{9FA85D57-1740-0FCD-8DC4-DAA87AC2C253}"/>
                </a:ext>
              </a:extLst>
            </p:cNvPr>
            <p:cNvGrpSpPr/>
            <p:nvPr/>
          </p:nvGrpSpPr>
          <p:grpSpPr>
            <a:xfrm>
              <a:off x="0" y="0"/>
              <a:ext cx="7638004" cy="1109285"/>
              <a:chOff x="0" y="0"/>
              <a:chExt cx="1508742" cy="219118"/>
            </a:xfrm>
            <a:grpFill/>
          </p:grpSpPr>
          <p:sp>
            <p:nvSpPr>
              <p:cNvPr id="5" name="Freeform 4">
                <a:extLst>
                  <a:ext uri="{FF2B5EF4-FFF2-40B4-BE49-F238E27FC236}">
                    <a16:creationId xmlns:a16="http://schemas.microsoft.com/office/drawing/2014/main" id="{CB675F8B-5BFE-38FF-6B54-32073ED76709}"/>
                  </a:ext>
                </a:extLst>
              </p:cNvPr>
              <p:cNvSpPr/>
              <p:nvPr/>
            </p:nvSpPr>
            <p:spPr>
              <a:xfrm>
                <a:off x="0" y="0"/>
                <a:ext cx="1508742" cy="219118"/>
              </a:xfrm>
              <a:custGeom>
                <a:avLst/>
                <a:gdLst/>
                <a:ahLst/>
                <a:cxnLst/>
                <a:rect l="l" t="t" r="r" b="b"/>
                <a:pathLst>
                  <a:path w="1508742" h="219118">
                    <a:moveTo>
                      <a:pt x="68925" y="0"/>
                    </a:moveTo>
                    <a:lnTo>
                      <a:pt x="1439816" y="0"/>
                    </a:lnTo>
                    <a:cubicBezTo>
                      <a:pt x="1477883" y="0"/>
                      <a:pt x="1508742" y="30859"/>
                      <a:pt x="1508742" y="68925"/>
                    </a:cubicBezTo>
                    <a:lnTo>
                      <a:pt x="1508742" y="150193"/>
                    </a:lnTo>
                    <a:cubicBezTo>
                      <a:pt x="1508742" y="188259"/>
                      <a:pt x="1477883" y="219118"/>
                      <a:pt x="1439816" y="219118"/>
                    </a:cubicBezTo>
                    <a:lnTo>
                      <a:pt x="68925" y="219118"/>
                    </a:lnTo>
                    <a:cubicBezTo>
                      <a:pt x="30859" y="219118"/>
                      <a:pt x="0" y="188259"/>
                      <a:pt x="0" y="150193"/>
                    </a:cubicBezTo>
                    <a:lnTo>
                      <a:pt x="0" y="68925"/>
                    </a:lnTo>
                    <a:cubicBezTo>
                      <a:pt x="0" y="30859"/>
                      <a:pt x="30859" y="0"/>
                      <a:pt x="68925" y="0"/>
                    </a:cubicBezTo>
                    <a:close/>
                  </a:path>
                </a:pathLst>
              </a:custGeom>
              <a:grpFill/>
            </p:spPr>
          </p:sp>
          <p:sp>
            <p:nvSpPr>
              <p:cNvPr id="6" name="TextBox 5">
                <a:extLst>
                  <a:ext uri="{FF2B5EF4-FFF2-40B4-BE49-F238E27FC236}">
                    <a16:creationId xmlns:a16="http://schemas.microsoft.com/office/drawing/2014/main" id="{A9B29BF4-A1AB-FE8A-B246-931717B49A11}"/>
                  </a:ext>
                </a:extLst>
              </p:cNvPr>
              <p:cNvSpPr txBox="1"/>
              <p:nvPr/>
            </p:nvSpPr>
            <p:spPr>
              <a:xfrm>
                <a:off x="0" y="-19050"/>
                <a:ext cx="1508742" cy="238168"/>
              </a:xfrm>
              <a:prstGeom prst="rect">
                <a:avLst/>
              </a:prstGeom>
              <a:grpFill/>
            </p:spPr>
            <p:txBody>
              <a:bodyPr lIns="50800" tIns="50800" rIns="50800" bIns="50800" rtlCol="0" anchor="ctr"/>
              <a:lstStyle/>
              <a:p>
                <a:pPr algn="ctr">
                  <a:lnSpc>
                    <a:spcPts val="2098"/>
                  </a:lnSpc>
                </a:pPr>
                <a:endParaRPr/>
              </a:p>
            </p:txBody>
          </p:sp>
        </p:grpSp>
        <p:sp>
          <p:nvSpPr>
            <p:cNvPr id="4" name="TextBox 6">
              <a:extLst>
                <a:ext uri="{FF2B5EF4-FFF2-40B4-BE49-F238E27FC236}">
                  <a16:creationId xmlns:a16="http://schemas.microsoft.com/office/drawing/2014/main" id="{546CD3E4-85A2-9A59-1F21-BFDBFB0F6F2E}"/>
                </a:ext>
              </a:extLst>
            </p:cNvPr>
            <p:cNvSpPr txBox="1"/>
            <p:nvPr/>
          </p:nvSpPr>
          <p:spPr>
            <a:xfrm>
              <a:off x="590109" y="38176"/>
              <a:ext cx="6457787" cy="918633"/>
            </a:xfrm>
            <a:prstGeom prst="rect">
              <a:avLst/>
            </a:prstGeom>
            <a:grpFill/>
          </p:spPr>
          <p:txBody>
            <a:bodyPr lIns="0" tIns="0" rIns="0" bIns="0" rtlCol="0" anchor="t">
              <a:spAutoFit/>
            </a:bodyPr>
            <a:lstStyle/>
            <a:p>
              <a:pPr algn="ctr">
                <a:lnSpc>
                  <a:spcPts val="5599"/>
                </a:lnSpc>
              </a:pPr>
              <a:r>
                <a:rPr lang="en-US" sz="3999" dirty="0">
                  <a:solidFill>
                    <a:srgbClr val="FFFFFF"/>
                  </a:solidFill>
                  <a:latin typeface="Poppins Bold"/>
                </a:rPr>
                <a:t>ARCHITECTURE</a:t>
              </a:r>
            </a:p>
          </p:txBody>
        </p:sp>
      </p:grpSp>
      <p:pic>
        <p:nvPicPr>
          <p:cNvPr id="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36" t="8255"/>
          <a:stretch/>
        </p:blipFill>
        <p:spPr bwMode="auto">
          <a:xfrm>
            <a:off x="14554200" y="50310"/>
            <a:ext cx="2209800" cy="1210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a:extLst>
              <a:ext uri="{FF2B5EF4-FFF2-40B4-BE49-F238E27FC236}">
                <a16:creationId xmlns:a16="http://schemas.microsoft.com/office/drawing/2014/main" id="{0703121E-A09E-C8E0-D921-4985DA065C95}"/>
              </a:ext>
            </a:extLst>
          </p:cNvPr>
          <p:cNvPicPr>
            <a:picLocks noChangeAspect="1"/>
          </p:cNvPicPr>
          <p:nvPr/>
        </p:nvPicPr>
        <p:blipFill>
          <a:blip r:embed="rId3"/>
          <a:stretch>
            <a:fillRect/>
          </a:stretch>
        </p:blipFill>
        <p:spPr>
          <a:xfrm>
            <a:off x="4914308" y="1714500"/>
            <a:ext cx="8459381" cy="7887801"/>
          </a:xfrm>
          <a:prstGeom prst="rect">
            <a:avLst/>
          </a:prstGeom>
        </p:spPr>
      </p:pic>
    </p:spTree>
    <p:extLst>
      <p:ext uri="{BB962C8B-B14F-4D97-AF65-F5344CB8AC3E}">
        <p14:creationId xmlns:p14="http://schemas.microsoft.com/office/powerpoint/2010/main" val="1687949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819F73D6-CACE-9C0E-DC27-05A2D9191D05}"/>
              </a:ext>
            </a:extLst>
          </p:cNvPr>
          <p:cNvGrpSpPr/>
          <p:nvPr/>
        </p:nvGrpSpPr>
        <p:grpSpPr>
          <a:xfrm>
            <a:off x="5565424" y="452126"/>
            <a:ext cx="7281104" cy="798860"/>
            <a:chOff x="0" y="0"/>
            <a:chExt cx="9708139" cy="1065146"/>
          </a:xfrm>
          <a:solidFill>
            <a:schemeClr val="accent1"/>
          </a:solidFill>
        </p:grpSpPr>
        <p:grpSp>
          <p:nvGrpSpPr>
            <p:cNvPr id="3" name="Group 3">
              <a:extLst>
                <a:ext uri="{FF2B5EF4-FFF2-40B4-BE49-F238E27FC236}">
                  <a16:creationId xmlns:a16="http://schemas.microsoft.com/office/drawing/2014/main" id="{D3869D4C-E48C-5050-90CB-3A4D96CA1FFA}"/>
                </a:ext>
              </a:extLst>
            </p:cNvPr>
            <p:cNvGrpSpPr/>
            <p:nvPr/>
          </p:nvGrpSpPr>
          <p:grpSpPr>
            <a:xfrm>
              <a:off x="0" y="0"/>
              <a:ext cx="9708139" cy="1065146"/>
              <a:chOff x="0" y="0"/>
              <a:chExt cx="1997123" cy="219118"/>
            </a:xfrm>
            <a:grpFill/>
          </p:grpSpPr>
          <p:sp>
            <p:nvSpPr>
              <p:cNvPr id="5" name="Freeform 4">
                <a:extLst>
                  <a:ext uri="{FF2B5EF4-FFF2-40B4-BE49-F238E27FC236}">
                    <a16:creationId xmlns:a16="http://schemas.microsoft.com/office/drawing/2014/main" id="{A29B74FF-2B89-74B4-C73D-17524649D09C}"/>
                  </a:ext>
                </a:extLst>
              </p:cNvPr>
              <p:cNvSpPr/>
              <p:nvPr/>
            </p:nvSpPr>
            <p:spPr>
              <a:xfrm>
                <a:off x="0" y="0"/>
                <a:ext cx="1997123" cy="219118"/>
              </a:xfrm>
              <a:custGeom>
                <a:avLst/>
                <a:gdLst/>
                <a:ahLst/>
                <a:cxnLst/>
                <a:rect l="l" t="t" r="r" b="b"/>
                <a:pathLst>
                  <a:path w="1997123" h="219118">
                    <a:moveTo>
                      <a:pt x="52070" y="0"/>
                    </a:moveTo>
                    <a:lnTo>
                      <a:pt x="1945053" y="0"/>
                    </a:lnTo>
                    <a:cubicBezTo>
                      <a:pt x="1973810" y="0"/>
                      <a:pt x="1997123" y="23313"/>
                      <a:pt x="1997123" y="52070"/>
                    </a:cubicBezTo>
                    <a:lnTo>
                      <a:pt x="1997123" y="167048"/>
                    </a:lnTo>
                    <a:cubicBezTo>
                      <a:pt x="1997123" y="180858"/>
                      <a:pt x="1991637" y="194102"/>
                      <a:pt x="1981872" y="203867"/>
                    </a:cubicBezTo>
                    <a:cubicBezTo>
                      <a:pt x="1972107" y="213632"/>
                      <a:pt x="1958863" y="219118"/>
                      <a:pt x="1945053" y="219118"/>
                    </a:cubicBezTo>
                    <a:lnTo>
                      <a:pt x="52070" y="219118"/>
                    </a:lnTo>
                    <a:cubicBezTo>
                      <a:pt x="23313" y="219118"/>
                      <a:pt x="0" y="195805"/>
                      <a:pt x="0" y="167048"/>
                    </a:cubicBezTo>
                    <a:lnTo>
                      <a:pt x="0" y="52070"/>
                    </a:lnTo>
                    <a:cubicBezTo>
                      <a:pt x="0" y="23313"/>
                      <a:pt x="23313" y="0"/>
                      <a:pt x="52070" y="0"/>
                    </a:cubicBezTo>
                    <a:close/>
                  </a:path>
                </a:pathLst>
              </a:custGeom>
              <a:grpFill/>
            </p:spPr>
          </p:sp>
          <p:sp>
            <p:nvSpPr>
              <p:cNvPr id="6" name="TextBox 5">
                <a:extLst>
                  <a:ext uri="{FF2B5EF4-FFF2-40B4-BE49-F238E27FC236}">
                    <a16:creationId xmlns:a16="http://schemas.microsoft.com/office/drawing/2014/main" id="{405BAD3E-22EE-5D07-FE74-2CE383AE7E78}"/>
                  </a:ext>
                </a:extLst>
              </p:cNvPr>
              <p:cNvSpPr txBox="1"/>
              <p:nvPr/>
            </p:nvSpPr>
            <p:spPr>
              <a:xfrm>
                <a:off x="0" y="-19050"/>
                <a:ext cx="1997123" cy="238168"/>
              </a:xfrm>
              <a:prstGeom prst="rect">
                <a:avLst/>
              </a:prstGeom>
              <a:grpFill/>
            </p:spPr>
            <p:txBody>
              <a:bodyPr lIns="50800" tIns="50800" rIns="50800" bIns="50800" rtlCol="0" anchor="ctr"/>
              <a:lstStyle/>
              <a:p>
                <a:pPr algn="ctr">
                  <a:lnSpc>
                    <a:spcPts val="2098"/>
                  </a:lnSpc>
                </a:pPr>
                <a:endParaRPr/>
              </a:p>
            </p:txBody>
          </p:sp>
        </p:grpSp>
        <p:sp>
          <p:nvSpPr>
            <p:cNvPr id="4" name="TextBox 6">
              <a:extLst>
                <a:ext uri="{FF2B5EF4-FFF2-40B4-BE49-F238E27FC236}">
                  <a16:creationId xmlns:a16="http://schemas.microsoft.com/office/drawing/2014/main" id="{12E84E2E-5A83-459E-3522-1C30F7A3E449}"/>
                </a:ext>
              </a:extLst>
            </p:cNvPr>
            <p:cNvSpPr txBox="1"/>
            <p:nvPr/>
          </p:nvSpPr>
          <p:spPr>
            <a:xfrm>
              <a:off x="750046" y="41634"/>
              <a:ext cx="8208047" cy="877104"/>
            </a:xfrm>
            <a:prstGeom prst="rect">
              <a:avLst/>
            </a:prstGeom>
            <a:grpFill/>
          </p:spPr>
          <p:txBody>
            <a:bodyPr lIns="0" tIns="0" rIns="0" bIns="0" rtlCol="0" anchor="t">
              <a:spAutoFit/>
            </a:bodyPr>
            <a:lstStyle/>
            <a:p>
              <a:pPr algn="ctr">
                <a:lnSpc>
                  <a:spcPts val="5377"/>
                </a:lnSpc>
              </a:pPr>
              <a:r>
                <a:rPr lang="en-US" sz="3840">
                  <a:solidFill>
                    <a:srgbClr val="FFFFFF"/>
                  </a:solidFill>
                  <a:latin typeface="Poppins Bold"/>
                </a:rPr>
                <a:t>DATASET DESCRIPTION</a:t>
              </a:r>
            </a:p>
          </p:txBody>
        </p:sp>
      </p:grpSp>
      <p:sp>
        <p:nvSpPr>
          <p:cNvPr id="11" name="TextBox 11">
            <a:extLst>
              <a:ext uri="{FF2B5EF4-FFF2-40B4-BE49-F238E27FC236}">
                <a16:creationId xmlns:a16="http://schemas.microsoft.com/office/drawing/2014/main" id="{55142619-528B-7448-08E8-CB28D598D554}"/>
              </a:ext>
            </a:extLst>
          </p:cNvPr>
          <p:cNvSpPr txBox="1"/>
          <p:nvPr/>
        </p:nvSpPr>
        <p:spPr>
          <a:xfrm>
            <a:off x="1289197" y="1452831"/>
            <a:ext cx="2946924" cy="525016"/>
          </a:xfrm>
          <a:prstGeom prst="rect">
            <a:avLst/>
          </a:prstGeom>
        </p:spPr>
        <p:txBody>
          <a:bodyPr lIns="0" tIns="0" rIns="0" bIns="0" rtlCol="0" anchor="t">
            <a:spAutoFit/>
          </a:bodyPr>
          <a:lstStyle/>
          <a:p>
            <a:pPr>
              <a:lnSpc>
                <a:spcPts val="4344"/>
              </a:lnSpc>
            </a:pPr>
            <a:r>
              <a:rPr lang="en-US" sz="3103" dirty="0">
                <a:solidFill>
                  <a:srgbClr val="FFFFFF"/>
                </a:solidFill>
                <a:latin typeface="Poppins Bold"/>
              </a:rPr>
              <a:t>       ATASET</a:t>
            </a:r>
          </a:p>
        </p:txBody>
      </p:sp>
      <p:pic>
        <p:nvPicPr>
          <p:cNvPr id="1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36" t="8255"/>
          <a:stretch/>
        </p:blipFill>
        <p:spPr bwMode="auto">
          <a:xfrm>
            <a:off x="14125863" y="196578"/>
            <a:ext cx="3131234" cy="944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2">
            <a:extLst>
              <a:ext uri="{FF2B5EF4-FFF2-40B4-BE49-F238E27FC236}">
                <a16:creationId xmlns:a16="http://schemas.microsoft.com/office/drawing/2014/main" id="{69986BD1-2745-1F87-987F-135DFA10C301}"/>
              </a:ext>
            </a:extLst>
          </p:cNvPr>
          <p:cNvSpPr>
            <a:spLocks noChangeArrowheads="1"/>
          </p:cNvSpPr>
          <p:nvPr/>
        </p:nvSpPr>
        <p:spPr bwMode="auto">
          <a:xfrm>
            <a:off x="588347" y="1354730"/>
            <a:ext cx="16687800" cy="784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The dataset consists of multiple structured files representing different stages of drug interaction data processing </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Drug metadata files include drug IDs, names, and chemical structures (SMILES format) </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Molecular fingerprint data provides numerical vector representations of each drug for model input </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Interaction dataset </a:t>
            </a:r>
            <a:r>
              <a:rPr kumimoji="0" lang="en-US" altLang="en-US" sz="2800" b="1" i="0" u="none" strike="noStrike" cap="none" normalizeH="0" baseline="0" dirty="0">
                <a:ln>
                  <a:noFill/>
                </a:ln>
                <a:solidFill>
                  <a:schemeClr val="tx1"/>
                </a:solidFill>
                <a:effectLst/>
                <a:latin typeface="Calibri (Body)"/>
              </a:rPr>
              <a:t>contains</a:t>
            </a:r>
            <a:r>
              <a:rPr kumimoji="0" lang="en-US" altLang="en-US" sz="2800" b="1" i="0" u="none" strike="noStrike" cap="none" normalizeH="0" baseline="0" dirty="0">
                <a:ln>
                  <a:noFill/>
                </a:ln>
                <a:solidFill>
                  <a:schemeClr val="tx1"/>
                </a:solidFill>
                <a:effectLst/>
                <a:latin typeface="Arial" panose="020B0604020202020204" pitchFamily="34" charset="0"/>
              </a:rPr>
              <a:t> drug pair combinations labeled for potential drug–drug interactions </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A balanced dataset is created to ensure equal representation of interacting and non-interacting drug pairs </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Preprocessed data is split into training and validation sets stored in optimized </a:t>
            </a:r>
            <a:r>
              <a:rPr kumimoji="0" lang="en-US" altLang="en-US" sz="2800" b="1" i="0" u="none" strike="noStrike" cap="none" normalizeH="0" baseline="0" dirty="0">
                <a:ln>
                  <a:noFill/>
                </a:ln>
                <a:solidFill>
                  <a:schemeClr val="tx1"/>
                </a:solidFill>
                <a:effectLst/>
                <a:latin typeface="Arial Unicode MS"/>
              </a:rPr>
              <a:t>.</a:t>
            </a:r>
            <a:r>
              <a:rPr kumimoji="0" lang="en-US" altLang="en-US" sz="2800" b="1" i="0" u="none" strike="noStrike" cap="none" normalizeH="0" baseline="0" dirty="0" err="1">
                <a:ln>
                  <a:noFill/>
                </a:ln>
                <a:solidFill>
                  <a:schemeClr val="tx1"/>
                </a:solidFill>
                <a:effectLst/>
                <a:latin typeface="Arial Unicode MS"/>
              </a:rPr>
              <a:t>npz</a:t>
            </a:r>
            <a:r>
              <a:rPr kumimoji="0" lang="en-US" altLang="en-US" sz="2800" b="1" i="0" u="none" strike="noStrike" cap="none" normalizeH="0" baseline="0" dirty="0">
                <a:ln>
                  <a:noFill/>
                </a:ln>
                <a:solidFill>
                  <a:schemeClr val="tx1"/>
                </a:solidFill>
                <a:effectLst/>
              </a:rPr>
              <a:t> format </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Chunked data files are used to efficiently handle large-scale training data and improve computational performance </a:t>
            </a:r>
          </a:p>
        </p:txBody>
      </p:sp>
    </p:spTree>
    <p:extLst>
      <p:ext uri="{BB962C8B-B14F-4D97-AF65-F5344CB8AC3E}">
        <p14:creationId xmlns:p14="http://schemas.microsoft.com/office/powerpoint/2010/main" val="3017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F94E11D5-5B02-36D6-44B1-20BD470FE449}"/>
              </a:ext>
            </a:extLst>
          </p:cNvPr>
          <p:cNvGrpSpPr/>
          <p:nvPr/>
        </p:nvGrpSpPr>
        <p:grpSpPr>
          <a:xfrm>
            <a:off x="5515596" y="428774"/>
            <a:ext cx="7256808" cy="831964"/>
            <a:chOff x="0" y="0"/>
            <a:chExt cx="9675744" cy="1109285"/>
          </a:xfrm>
          <a:solidFill>
            <a:schemeClr val="accent1"/>
          </a:solidFill>
        </p:grpSpPr>
        <p:grpSp>
          <p:nvGrpSpPr>
            <p:cNvPr id="3" name="Group 3">
              <a:extLst>
                <a:ext uri="{FF2B5EF4-FFF2-40B4-BE49-F238E27FC236}">
                  <a16:creationId xmlns:a16="http://schemas.microsoft.com/office/drawing/2014/main" id="{674EEC49-41B8-7D0E-B8FA-FF0146F7DDBB}"/>
                </a:ext>
              </a:extLst>
            </p:cNvPr>
            <p:cNvGrpSpPr/>
            <p:nvPr/>
          </p:nvGrpSpPr>
          <p:grpSpPr>
            <a:xfrm>
              <a:off x="0" y="0"/>
              <a:ext cx="9675744" cy="1109285"/>
              <a:chOff x="0" y="0"/>
              <a:chExt cx="1911258" cy="219118"/>
            </a:xfrm>
            <a:grpFill/>
          </p:grpSpPr>
          <p:sp>
            <p:nvSpPr>
              <p:cNvPr id="5" name="Freeform 4">
                <a:extLst>
                  <a:ext uri="{FF2B5EF4-FFF2-40B4-BE49-F238E27FC236}">
                    <a16:creationId xmlns:a16="http://schemas.microsoft.com/office/drawing/2014/main" id="{C6BB80C5-E751-CBD1-6D78-B708061BC667}"/>
                  </a:ext>
                </a:extLst>
              </p:cNvPr>
              <p:cNvSpPr/>
              <p:nvPr/>
            </p:nvSpPr>
            <p:spPr>
              <a:xfrm>
                <a:off x="0" y="0"/>
                <a:ext cx="1911258" cy="219118"/>
              </a:xfrm>
              <a:custGeom>
                <a:avLst/>
                <a:gdLst/>
                <a:ahLst/>
                <a:cxnLst/>
                <a:rect l="l" t="t" r="r" b="b"/>
                <a:pathLst>
                  <a:path w="1911258" h="219118">
                    <a:moveTo>
                      <a:pt x="54409" y="0"/>
                    </a:moveTo>
                    <a:lnTo>
                      <a:pt x="1856849" y="0"/>
                    </a:lnTo>
                    <a:cubicBezTo>
                      <a:pt x="1886898" y="0"/>
                      <a:pt x="1911258" y="24360"/>
                      <a:pt x="1911258" y="54409"/>
                    </a:cubicBezTo>
                    <a:lnTo>
                      <a:pt x="1911258" y="164709"/>
                    </a:lnTo>
                    <a:cubicBezTo>
                      <a:pt x="1911258" y="194758"/>
                      <a:pt x="1886898" y="219118"/>
                      <a:pt x="1856849" y="219118"/>
                    </a:cubicBezTo>
                    <a:lnTo>
                      <a:pt x="54409" y="219118"/>
                    </a:lnTo>
                    <a:cubicBezTo>
                      <a:pt x="24360" y="219118"/>
                      <a:pt x="0" y="194758"/>
                      <a:pt x="0" y="164709"/>
                    </a:cubicBezTo>
                    <a:lnTo>
                      <a:pt x="0" y="54409"/>
                    </a:lnTo>
                    <a:cubicBezTo>
                      <a:pt x="0" y="24360"/>
                      <a:pt x="24360" y="0"/>
                      <a:pt x="54409" y="0"/>
                    </a:cubicBezTo>
                    <a:close/>
                  </a:path>
                </a:pathLst>
              </a:custGeom>
              <a:grpFill/>
            </p:spPr>
          </p:sp>
          <p:sp>
            <p:nvSpPr>
              <p:cNvPr id="6" name="TextBox 5">
                <a:extLst>
                  <a:ext uri="{FF2B5EF4-FFF2-40B4-BE49-F238E27FC236}">
                    <a16:creationId xmlns:a16="http://schemas.microsoft.com/office/drawing/2014/main" id="{05B43272-6C92-7D11-6BBA-923C51A5CB77}"/>
                  </a:ext>
                </a:extLst>
              </p:cNvPr>
              <p:cNvSpPr txBox="1"/>
              <p:nvPr/>
            </p:nvSpPr>
            <p:spPr>
              <a:xfrm>
                <a:off x="0" y="-19050"/>
                <a:ext cx="1911258" cy="238168"/>
              </a:xfrm>
              <a:prstGeom prst="rect">
                <a:avLst/>
              </a:prstGeom>
              <a:grpFill/>
            </p:spPr>
            <p:txBody>
              <a:bodyPr lIns="50800" tIns="50800" rIns="50800" bIns="50800" rtlCol="0" anchor="ctr"/>
              <a:lstStyle/>
              <a:p>
                <a:pPr algn="ctr">
                  <a:lnSpc>
                    <a:spcPts val="2098"/>
                  </a:lnSpc>
                </a:pPr>
                <a:endParaRPr/>
              </a:p>
            </p:txBody>
          </p:sp>
        </p:grpSp>
        <p:sp>
          <p:nvSpPr>
            <p:cNvPr id="4" name="TextBox 6">
              <a:extLst>
                <a:ext uri="{FF2B5EF4-FFF2-40B4-BE49-F238E27FC236}">
                  <a16:creationId xmlns:a16="http://schemas.microsoft.com/office/drawing/2014/main" id="{2694DD12-FAB2-79BE-28A3-D103C5A01144}"/>
                </a:ext>
              </a:extLst>
            </p:cNvPr>
            <p:cNvSpPr txBox="1"/>
            <p:nvPr/>
          </p:nvSpPr>
          <p:spPr>
            <a:xfrm>
              <a:off x="747543" y="38176"/>
              <a:ext cx="8180657" cy="918633"/>
            </a:xfrm>
            <a:prstGeom prst="rect">
              <a:avLst/>
            </a:prstGeom>
            <a:grpFill/>
          </p:spPr>
          <p:txBody>
            <a:bodyPr lIns="0" tIns="0" rIns="0" bIns="0" rtlCol="0" anchor="t">
              <a:spAutoFit/>
            </a:bodyPr>
            <a:lstStyle/>
            <a:p>
              <a:pPr algn="ctr">
                <a:lnSpc>
                  <a:spcPts val="5599"/>
                </a:lnSpc>
              </a:pPr>
              <a:r>
                <a:rPr lang="en-US" sz="3999">
                  <a:solidFill>
                    <a:srgbClr val="FFFFFF"/>
                  </a:solidFill>
                  <a:latin typeface="Poppins Bold"/>
                </a:rPr>
                <a:t>EXPERIMENTAL RESULTS</a:t>
              </a:r>
            </a:p>
          </p:txBody>
        </p:sp>
      </p:grpSp>
      <p:sp>
        <p:nvSpPr>
          <p:cNvPr id="8" name="TextBox 8">
            <a:extLst>
              <a:ext uri="{FF2B5EF4-FFF2-40B4-BE49-F238E27FC236}">
                <a16:creationId xmlns:a16="http://schemas.microsoft.com/office/drawing/2014/main" id="{7AF847C9-E820-A800-4BF1-53BA60120A54}"/>
              </a:ext>
            </a:extLst>
          </p:cNvPr>
          <p:cNvSpPr txBox="1"/>
          <p:nvPr/>
        </p:nvSpPr>
        <p:spPr>
          <a:xfrm>
            <a:off x="2035577" y="7760644"/>
            <a:ext cx="3831458" cy="584200"/>
          </a:xfrm>
          <a:prstGeom prst="rect">
            <a:avLst/>
          </a:prstGeom>
        </p:spPr>
        <p:txBody>
          <a:bodyPr wrap="square" lIns="0" tIns="0" rIns="0" bIns="0" rtlCol="0" anchor="t">
            <a:spAutoFit/>
          </a:bodyPr>
          <a:lstStyle/>
          <a:p>
            <a:pPr algn="just">
              <a:lnSpc>
                <a:spcPts val="4999"/>
              </a:lnSpc>
            </a:pPr>
            <a:r>
              <a:rPr lang="en-US" sz="2499" dirty="0">
                <a:solidFill>
                  <a:srgbClr val="000000"/>
                </a:solidFill>
                <a:latin typeface="Poppins Bold"/>
              </a:rPr>
              <a:t>Fig. 1 </a:t>
            </a:r>
            <a:r>
              <a:rPr lang="en-US" sz="2499" dirty="0" err="1">
                <a:solidFill>
                  <a:srgbClr val="000000"/>
                </a:solidFill>
                <a:latin typeface="Poppins Bold"/>
              </a:rPr>
              <a:t>Condusion</a:t>
            </a:r>
            <a:r>
              <a:rPr lang="en-US" sz="2499" dirty="0">
                <a:solidFill>
                  <a:srgbClr val="000000"/>
                </a:solidFill>
                <a:latin typeface="Poppins Bold"/>
              </a:rPr>
              <a:t> Matrix</a:t>
            </a:r>
          </a:p>
        </p:txBody>
      </p:sp>
      <p:sp>
        <p:nvSpPr>
          <p:cNvPr id="11" name="TextBox 10">
            <a:extLst>
              <a:ext uri="{FF2B5EF4-FFF2-40B4-BE49-F238E27FC236}">
                <a16:creationId xmlns:a16="http://schemas.microsoft.com/office/drawing/2014/main" id="{9280CAB0-05A4-15E8-BA1E-1FDB8DCF108C}"/>
              </a:ext>
            </a:extLst>
          </p:cNvPr>
          <p:cNvSpPr txBox="1"/>
          <p:nvPr/>
        </p:nvSpPr>
        <p:spPr>
          <a:xfrm>
            <a:off x="12573000" y="7848900"/>
            <a:ext cx="4379493" cy="663002"/>
          </a:xfrm>
          <a:prstGeom prst="rect">
            <a:avLst/>
          </a:prstGeom>
          <a:noFill/>
        </p:spPr>
        <p:txBody>
          <a:bodyPr wrap="square">
            <a:spAutoFit/>
          </a:bodyPr>
          <a:lstStyle/>
          <a:p>
            <a:pPr algn="just">
              <a:lnSpc>
                <a:spcPts val="4999"/>
              </a:lnSpc>
            </a:pPr>
            <a:r>
              <a:rPr lang="en-US" sz="2500" dirty="0">
                <a:solidFill>
                  <a:srgbClr val="000000"/>
                </a:solidFill>
                <a:latin typeface="Poppins Bold"/>
              </a:rPr>
              <a:t>Fig.2 class Distribution</a:t>
            </a:r>
          </a:p>
        </p:txBody>
      </p:sp>
      <p:pic>
        <p:nvPicPr>
          <p:cNvPr id="1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36" t="8255"/>
          <a:stretch/>
        </p:blipFill>
        <p:spPr bwMode="auto">
          <a:xfrm>
            <a:off x="14125863" y="196578"/>
            <a:ext cx="3131234" cy="944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a:extLst>
              <a:ext uri="{FF2B5EF4-FFF2-40B4-BE49-F238E27FC236}">
                <a16:creationId xmlns:a16="http://schemas.microsoft.com/office/drawing/2014/main" id="{192C7B7E-292C-6234-B76C-E41484A9C7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1638300"/>
            <a:ext cx="6422937" cy="5827763"/>
          </a:xfrm>
          <a:prstGeom prst="rect">
            <a:avLst/>
          </a:prstGeom>
        </p:spPr>
      </p:pic>
      <p:pic>
        <p:nvPicPr>
          <p:cNvPr id="13" name="Picture 12">
            <a:extLst>
              <a:ext uri="{FF2B5EF4-FFF2-40B4-BE49-F238E27FC236}">
                <a16:creationId xmlns:a16="http://schemas.microsoft.com/office/drawing/2014/main" id="{3393E462-3D06-19EC-8058-FD947A802B72}"/>
              </a:ext>
            </a:extLst>
          </p:cNvPr>
          <p:cNvPicPr>
            <a:picLocks noChangeAspect="1"/>
          </p:cNvPicPr>
          <p:nvPr/>
        </p:nvPicPr>
        <p:blipFill>
          <a:blip r:embed="rId4"/>
          <a:stretch>
            <a:fillRect/>
          </a:stretch>
        </p:blipFill>
        <p:spPr>
          <a:xfrm>
            <a:off x="10950665" y="1942156"/>
            <a:ext cx="5314950" cy="5534025"/>
          </a:xfrm>
          <a:prstGeom prst="rect">
            <a:avLst/>
          </a:prstGeom>
        </p:spPr>
      </p:pic>
    </p:spTree>
    <p:extLst>
      <p:ext uri="{BB962C8B-B14F-4D97-AF65-F5344CB8AC3E}">
        <p14:creationId xmlns:p14="http://schemas.microsoft.com/office/powerpoint/2010/main" val="4032697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515596" y="428774"/>
            <a:ext cx="7256808" cy="831964"/>
            <a:chOff x="0" y="0"/>
            <a:chExt cx="9675744" cy="1109285"/>
          </a:xfrm>
          <a:solidFill>
            <a:schemeClr val="accent1"/>
          </a:solidFill>
        </p:grpSpPr>
        <p:grpSp>
          <p:nvGrpSpPr>
            <p:cNvPr id="4" name="Group 4"/>
            <p:cNvGrpSpPr/>
            <p:nvPr/>
          </p:nvGrpSpPr>
          <p:grpSpPr>
            <a:xfrm>
              <a:off x="0" y="0"/>
              <a:ext cx="9675744" cy="1109285"/>
              <a:chOff x="0" y="0"/>
              <a:chExt cx="1911258" cy="219118"/>
            </a:xfrm>
            <a:grpFill/>
          </p:grpSpPr>
          <p:sp>
            <p:nvSpPr>
              <p:cNvPr id="5" name="Freeform 5"/>
              <p:cNvSpPr/>
              <p:nvPr/>
            </p:nvSpPr>
            <p:spPr>
              <a:xfrm>
                <a:off x="0" y="0"/>
                <a:ext cx="1911258" cy="219118"/>
              </a:xfrm>
              <a:custGeom>
                <a:avLst/>
                <a:gdLst/>
                <a:ahLst/>
                <a:cxnLst/>
                <a:rect l="l" t="t" r="r" b="b"/>
                <a:pathLst>
                  <a:path w="1911258" h="219118">
                    <a:moveTo>
                      <a:pt x="54409" y="0"/>
                    </a:moveTo>
                    <a:lnTo>
                      <a:pt x="1856849" y="0"/>
                    </a:lnTo>
                    <a:cubicBezTo>
                      <a:pt x="1886898" y="0"/>
                      <a:pt x="1911258" y="24360"/>
                      <a:pt x="1911258" y="54409"/>
                    </a:cubicBezTo>
                    <a:lnTo>
                      <a:pt x="1911258" y="164709"/>
                    </a:lnTo>
                    <a:cubicBezTo>
                      <a:pt x="1911258" y="194758"/>
                      <a:pt x="1886898" y="219118"/>
                      <a:pt x="1856849" y="219118"/>
                    </a:cubicBezTo>
                    <a:lnTo>
                      <a:pt x="54409" y="219118"/>
                    </a:lnTo>
                    <a:cubicBezTo>
                      <a:pt x="24360" y="219118"/>
                      <a:pt x="0" y="194758"/>
                      <a:pt x="0" y="164709"/>
                    </a:cubicBezTo>
                    <a:lnTo>
                      <a:pt x="0" y="54409"/>
                    </a:lnTo>
                    <a:cubicBezTo>
                      <a:pt x="0" y="24360"/>
                      <a:pt x="24360" y="0"/>
                      <a:pt x="54409" y="0"/>
                    </a:cubicBezTo>
                    <a:close/>
                  </a:path>
                </a:pathLst>
              </a:custGeom>
              <a:grpFill/>
            </p:spPr>
          </p:sp>
          <p:sp>
            <p:nvSpPr>
              <p:cNvPr id="6" name="TextBox 6"/>
              <p:cNvSpPr txBox="1"/>
              <p:nvPr/>
            </p:nvSpPr>
            <p:spPr>
              <a:xfrm>
                <a:off x="0" y="-19050"/>
                <a:ext cx="1911258" cy="238168"/>
              </a:xfrm>
              <a:prstGeom prst="rect">
                <a:avLst/>
              </a:prstGeom>
              <a:grpFill/>
            </p:spPr>
            <p:txBody>
              <a:bodyPr lIns="50800" tIns="50800" rIns="50800" bIns="50800" rtlCol="0" anchor="ctr"/>
              <a:lstStyle/>
              <a:p>
                <a:pPr algn="ctr">
                  <a:lnSpc>
                    <a:spcPts val="2098"/>
                  </a:lnSpc>
                </a:pPr>
                <a:endParaRPr/>
              </a:p>
            </p:txBody>
          </p:sp>
        </p:grpSp>
        <p:sp>
          <p:nvSpPr>
            <p:cNvPr id="7" name="TextBox 7"/>
            <p:cNvSpPr txBox="1"/>
            <p:nvPr/>
          </p:nvSpPr>
          <p:spPr>
            <a:xfrm>
              <a:off x="747543" y="38176"/>
              <a:ext cx="8180657" cy="918633"/>
            </a:xfrm>
            <a:prstGeom prst="rect">
              <a:avLst/>
            </a:prstGeom>
            <a:grpFill/>
          </p:spPr>
          <p:txBody>
            <a:bodyPr lIns="0" tIns="0" rIns="0" bIns="0" rtlCol="0" anchor="t">
              <a:spAutoFit/>
            </a:bodyPr>
            <a:lstStyle/>
            <a:p>
              <a:pPr algn="ctr">
                <a:lnSpc>
                  <a:spcPts val="5599"/>
                </a:lnSpc>
              </a:pPr>
              <a:r>
                <a:rPr lang="en-US" sz="3999">
                  <a:solidFill>
                    <a:srgbClr val="FFFFFF"/>
                  </a:solidFill>
                  <a:latin typeface="Poppins Bold"/>
                </a:rPr>
                <a:t>EXPERIMENTAL RESULTS</a:t>
              </a:r>
            </a:p>
          </p:txBody>
        </p:sp>
      </p:grpSp>
      <p:sp>
        <p:nvSpPr>
          <p:cNvPr id="10" name="TextBox 10"/>
          <p:cNvSpPr txBox="1"/>
          <p:nvPr/>
        </p:nvSpPr>
        <p:spPr>
          <a:xfrm>
            <a:off x="1314953" y="8801101"/>
            <a:ext cx="7976578" cy="1122102"/>
          </a:xfrm>
          <a:prstGeom prst="rect">
            <a:avLst/>
          </a:prstGeom>
        </p:spPr>
        <p:txBody>
          <a:bodyPr lIns="0" tIns="0" rIns="0" bIns="0" rtlCol="0" anchor="t">
            <a:spAutoFit/>
          </a:bodyPr>
          <a:lstStyle/>
          <a:p>
            <a:pPr algn="just">
              <a:lnSpc>
                <a:spcPts val="4574"/>
              </a:lnSpc>
            </a:pPr>
            <a:r>
              <a:rPr lang="en-US" sz="2500" dirty="0">
                <a:latin typeface="Poppins Bold" panose="00000800000000000000" charset="0"/>
                <a:cs typeface="Poppins Bold" panose="00000800000000000000" charset="0"/>
              </a:rPr>
              <a:t>Fig. 1 </a:t>
            </a:r>
            <a:r>
              <a:rPr lang="en-US" sz="2500" b="0" dirty="0">
                <a:effectLst/>
                <a:latin typeface="Poppins Bold" panose="00000800000000000000" charset="0"/>
                <a:cs typeface="Poppins Bold" panose="00000800000000000000" charset="0"/>
              </a:rPr>
              <a:t>Training &amp; Validation Accuracy </a:t>
            </a:r>
          </a:p>
          <a:p>
            <a:pPr algn="just">
              <a:lnSpc>
                <a:spcPts val="4574"/>
              </a:lnSpc>
            </a:pPr>
            <a:endParaRPr lang="en-US" sz="2500" dirty="0">
              <a:latin typeface="Poppins Bold" panose="00000800000000000000" charset="0"/>
              <a:cs typeface="Poppins Bold" panose="00000800000000000000" charset="0"/>
            </a:endParaRPr>
          </a:p>
        </p:txBody>
      </p:sp>
      <p:sp>
        <p:nvSpPr>
          <p:cNvPr id="11" name="TextBox 11"/>
          <p:cNvSpPr txBox="1"/>
          <p:nvPr/>
        </p:nvSpPr>
        <p:spPr>
          <a:xfrm>
            <a:off x="10591800" y="8793948"/>
            <a:ext cx="7976578" cy="1114472"/>
          </a:xfrm>
          <a:prstGeom prst="rect">
            <a:avLst/>
          </a:prstGeom>
        </p:spPr>
        <p:txBody>
          <a:bodyPr lIns="0" tIns="0" rIns="0" bIns="0" rtlCol="0" anchor="t">
            <a:spAutoFit/>
          </a:bodyPr>
          <a:lstStyle/>
          <a:p>
            <a:pPr algn="just">
              <a:lnSpc>
                <a:spcPts val="4574"/>
              </a:lnSpc>
            </a:pPr>
            <a:r>
              <a:rPr lang="en-US" sz="2500" dirty="0">
                <a:latin typeface="Poppins Bold" panose="00000800000000000000" charset="0"/>
                <a:cs typeface="Poppins Bold" panose="00000800000000000000" charset="0"/>
              </a:rPr>
              <a:t>Fig. 2 </a:t>
            </a:r>
            <a:r>
              <a:rPr lang="en-US" sz="2500" b="0" dirty="0">
                <a:effectLst/>
                <a:latin typeface="Poppins Bold" panose="00000800000000000000" charset="0"/>
                <a:cs typeface="Poppins Bold" panose="00000800000000000000" charset="0"/>
              </a:rPr>
              <a:t>Training &amp; Validation Loss </a:t>
            </a:r>
          </a:p>
          <a:p>
            <a:pPr algn="just">
              <a:lnSpc>
                <a:spcPts val="4574"/>
              </a:lnSpc>
            </a:pPr>
            <a:endParaRPr lang="en-US" sz="2500" dirty="0">
              <a:latin typeface="Poppins Bold" panose="00000800000000000000" charset="0"/>
              <a:cs typeface="Poppins Bold" panose="00000800000000000000" charset="0"/>
            </a:endParaRPr>
          </a:p>
        </p:txBody>
      </p:sp>
      <p:pic>
        <p:nvPicPr>
          <p:cNvPr id="1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36" t="8255"/>
          <a:stretch/>
        </p:blipFill>
        <p:spPr bwMode="auto">
          <a:xfrm>
            <a:off x="14125863" y="196578"/>
            <a:ext cx="3131234" cy="944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a:extLst>
              <a:ext uri="{FF2B5EF4-FFF2-40B4-BE49-F238E27FC236}">
                <a16:creationId xmlns:a16="http://schemas.microsoft.com/office/drawing/2014/main" id="{1D2B8720-BB68-F623-A289-6AB1CCB4EF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1548919"/>
            <a:ext cx="15449046" cy="718916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15596" y="428774"/>
            <a:ext cx="7256808" cy="831964"/>
            <a:chOff x="0" y="0"/>
            <a:chExt cx="9675744" cy="1109285"/>
          </a:xfrm>
          <a:solidFill>
            <a:schemeClr val="accent1"/>
          </a:solidFill>
        </p:grpSpPr>
        <p:grpSp>
          <p:nvGrpSpPr>
            <p:cNvPr id="3" name="Group 3"/>
            <p:cNvGrpSpPr/>
            <p:nvPr/>
          </p:nvGrpSpPr>
          <p:grpSpPr>
            <a:xfrm>
              <a:off x="0" y="0"/>
              <a:ext cx="9675744" cy="1109285"/>
              <a:chOff x="0" y="0"/>
              <a:chExt cx="1911258" cy="219118"/>
            </a:xfrm>
            <a:grpFill/>
          </p:grpSpPr>
          <p:sp>
            <p:nvSpPr>
              <p:cNvPr id="4" name="Freeform 4"/>
              <p:cNvSpPr/>
              <p:nvPr/>
            </p:nvSpPr>
            <p:spPr>
              <a:xfrm>
                <a:off x="0" y="0"/>
                <a:ext cx="1911258" cy="219118"/>
              </a:xfrm>
              <a:custGeom>
                <a:avLst/>
                <a:gdLst/>
                <a:ahLst/>
                <a:cxnLst/>
                <a:rect l="l" t="t" r="r" b="b"/>
                <a:pathLst>
                  <a:path w="1911258" h="219118">
                    <a:moveTo>
                      <a:pt x="54409" y="0"/>
                    </a:moveTo>
                    <a:lnTo>
                      <a:pt x="1856849" y="0"/>
                    </a:lnTo>
                    <a:cubicBezTo>
                      <a:pt x="1886898" y="0"/>
                      <a:pt x="1911258" y="24360"/>
                      <a:pt x="1911258" y="54409"/>
                    </a:cubicBezTo>
                    <a:lnTo>
                      <a:pt x="1911258" y="164709"/>
                    </a:lnTo>
                    <a:cubicBezTo>
                      <a:pt x="1911258" y="194758"/>
                      <a:pt x="1886898" y="219118"/>
                      <a:pt x="1856849" y="219118"/>
                    </a:cubicBezTo>
                    <a:lnTo>
                      <a:pt x="54409" y="219118"/>
                    </a:lnTo>
                    <a:cubicBezTo>
                      <a:pt x="24360" y="219118"/>
                      <a:pt x="0" y="194758"/>
                      <a:pt x="0" y="164709"/>
                    </a:cubicBezTo>
                    <a:lnTo>
                      <a:pt x="0" y="54409"/>
                    </a:lnTo>
                    <a:cubicBezTo>
                      <a:pt x="0" y="24360"/>
                      <a:pt x="24360" y="0"/>
                      <a:pt x="54409" y="0"/>
                    </a:cubicBezTo>
                    <a:close/>
                  </a:path>
                </a:pathLst>
              </a:custGeom>
              <a:grpFill/>
            </p:spPr>
          </p:sp>
          <p:sp>
            <p:nvSpPr>
              <p:cNvPr id="5" name="TextBox 5"/>
              <p:cNvSpPr txBox="1"/>
              <p:nvPr/>
            </p:nvSpPr>
            <p:spPr>
              <a:xfrm>
                <a:off x="0" y="-19050"/>
                <a:ext cx="1911258" cy="238168"/>
              </a:xfrm>
              <a:prstGeom prst="rect">
                <a:avLst/>
              </a:prstGeom>
              <a:grpFill/>
            </p:spPr>
            <p:txBody>
              <a:bodyPr lIns="50800" tIns="50800" rIns="50800" bIns="50800" rtlCol="0" anchor="ctr"/>
              <a:lstStyle/>
              <a:p>
                <a:pPr algn="ctr">
                  <a:lnSpc>
                    <a:spcPts val="2098"/>
                  </a:lnSpc>
                </a:pPr>
                <a:endParaRPr/>
              </a:p>
            </p:txBody>
          </p:sp>
        </p:grpSp>
        <p:sp>
          <p:nvSpPr>
            <p:cNvPr id="6" name="TextBox 6"/>
            <p:cNvSpPr txBox="1"/>
            <p:nvPr/>
          </p:nvSpPr>
          <p:spPr>
            <a:xfrm>
              <a:off x="747543" y="38176"/>
              <a:ext cx="8180657" cy="918633"/>
            </a:xfrm>
            <a:prstGeom prst="rect">
              <a:avLst/>
            </a:prstGeom>
            <a:grpFill/>
          </p:spPr>
          <p:txBody>
            <a:bodyPr lIns="0" tIns="0" rIns="0" bIns="0" rtlCol="0" anchor="t">
              <a:spAutoFit/>
            </a:bodyPr>
            <a:lstStyle/>
            <a:p>
              <a:pPr algn="ctr">
                <a:lnSpc>
                  <a:spcPts val="5599"/>
                </a:lnSpc>
              </a:pPr>
              <a:r>
                <a:rPr lang="en-US" sz="3999">
                  <a:solidFill>
                    <a:srgbClr val="FFFFFF"/>
                  </a:solidFill>
                  <a:latin typeface="Poppins Bold"/>
                </a:rPr>
                <a:t>SCREENSHOTS</a:t>
              </a:r>
            </a:p>
          </p:txBody>
        </p:sp>
      </p:grpSp>
      <p:grpSp>
        <p:nvGrpSpPr>
          <p:cNvPr id="8" name="Group 8"/>
          <p:cNvGrpSpPr/>
          <p:nvPr/>
        </p:nvGrpSpPr>
        <p:grpSpPr>
          <a:xfrm>
            <a:off x="685800" y="1616501"/>
            <a:ext cx="4565125" cy="830915"/>
            <a:chOff x="0" y="0"/>
            <a:chExt cx="6086833" cy="1107886"/>
          </a:xfrm>
        </p:grpSpPr>
        <p:grpSp>
          <p:nvGrpSpPr>
            <p:cNvPr id="9" name="Group 9"/>
            <p:cNvGrpSpPr/>
            <p:nvPr/>
          </p:nvGrpSpPr>
          <p:grpSpPr>
            <a:xfrm>
              <a:off x="0" y="0"/>
              <a:ext cx="6086833" cy="1107886"/>
              <a:chOff x="0" y="0"/>
              <a:chExt cx="1203855" cy="219118"/>
            </a:xfrm>
          </p:grpSpPr>
          <p:sp>
            <p:nvSpPr>
              <p:cNvPr id="10" name="Freeform 10"/>
              <p:cNvSpPr/>
              <p:nvPr/>
            </p:nvSpPr>
            <p:spPr>
              <a:xfrm>
                <a:off x="0" y="0"/>
                <a:ext cx="1203855" cy="219118"/>
              </a:xfrm>
              <a:custGeom>
                <a:avLst/>
                <a:gdLst/>
                <a:ahLst/>
                <a:cxnLst/>
                <a:rect l="l" t="t" r="r" b="b"/>
                <a:pathLst>
                  <a:path w="1203855" h="219118">
                    <a:moveTo>
                      <a:pt x="86381" y="0"/>
                    </a:moveTo>
                    <a:lnTo>
                      <a:pt x="1117474" y="0"/>
                    </a:lnTo>
                    <a:cubicBezTo>
                      <a:pt x="1165181" y="0"/>
                      <a:pt x="1203855" y="38674"/>
                      <a:pt x="1203855" y="86381"/>
                    </a:cubicBezTo>
                    <a:lnTo>
                      <a:pt x="1203855" y="132737"/>
                    </a:lnTo>
                    <a:cubicBezTo>
                      <a:pt x="1203855" y="180444"/>
                      <a:pt x="1165181" y="219118"/>
                      <a:pt x="1117474" y="219118"/>
                    </a:cubicBezTo>
                    <a:lnTo>
                      <a:pt x="86381" y="219118"/>
                    </a:lnTo>
                    <a:cubicBezTo>
                      <a:pt x="38674" y="219118"/>
                      <a:pt x="0" y="180444"/>
                      <a:pt x="0" y="132737"/>
                    </a:cubicBezTo>
                    <a:lnTo>
                      <a:pt x="0" y="86381"/>
                    </a:lnTo>
                    <a:cubicBezTo>
                      <a:pt x="0" y="38674"/>
                      <a:pt x="38674" y="0"/>
                      <a:pt x="86381" y="0"/>
                    </a:cubicBezTo>
                    <a:close/>
                  </a:path>
                </a:pathLst>
              </a:custGeom>
              <a:solidFill>
                <a:srgbClr val="004AAD"/>
              </a:solidFill>
            </p:spPr>
          </p:sp>
          <p:sp>
            <p:nvSpPr>
              <p:cNvPr id="11" name="TextBox 11"/>
              <p:cNvSpPr txBox="1"/>
              <p:nvPr/>
            </p:nvSpPr>
            <p:spPr>
              <a:xfrm>
                <a:off x="0" y="-19050"/>
                <a:ext cx="1203855" cy="238168"/>
              </a:xfrm>
              <a:prstGeom prst="rect">
                <a:avLst/>
              </a:prstGeom>
            </p:spPr>
            <p:txBody>
              <a:bodyPr lIns="50800" tIns="50800" rIns="50800" bIns="50800" rtlCol="0" anchor="ctr"/>
              <a:lstStyle/>
              <a:p>
                <a:pPr>
                  <a:lnSpc>
                    <a:spcPts val="2098"/>
                  </a:lnSpc>
                </a:pPr>
                <a:endParaRPr/>
              </a:p>
            </p:txBody>
          </p:sp>
        </p:grpSp>
        <p:sp>
          <p:nvSpPr>
            <p:cNvPr id="12" name="TextBox 12"/>
            <p:cNvSpPr txBox="1"/>
            <p:nvPr/>
          </p:nvSpPr>
          <p:spPr>
            <a:xfrm>
              <a:off x="470266" y="37983"/>
              <a:ext cx="5146301" cy="917619"/>
            </a:xfrm>
            <a:prstGeom prst="rect">
              <a:avLst/>
            </a:prstGeom>
          </p:spPr>
          <p:txBody>
            <a:bodyPr lIns="0" tIns="0" rIns="0" bIns="0" rtlCol="0" anchor="t">
              <a:spAutoFit/>
            </a:bodyPr>
            <a:lstStyle/>
            <a:p>
              <a:pPr algn="ctr">
                <a:lnSpc>
                  <a:spcPts val="5592"/>
                </a:lnSpc>
              </a:pPr>
              <a:r>
                <a:rPr lang="en-US" sz="3994" dirty="0">
                  <a:solidFill>
                    <a:srgbClr val="FFFFFF"/>
                  </a:solidFill>
                  <a:latin typeface="Poppins Bold"/>
                </a:rPr>
                <a:t>LOGIN PAGE </a:t>
              </a:r>
            </a:p>
          </p:txBody>
        </p:sp>
      </p:grpSp>
      <p:sp>
        <p:nvSpPr>
          <p:cNvPr id="14" name="TextBox 14"/>
          <p:cNvSpPr txBox="1"/>
          <p:nvPr/>
        </p:nvSpPr>
        <p:spPr>
          <a:xfrm>
            <a:off x="2057400" y="9113394"/>
            <a:ext cx="13352384" cy="475579"/>
          </a:xfrm>
          <a:prstGeom prst="rect">
            <a:avLst/>
          </a:prstGeom>
        </p:spPr>
        <p:txBody>
          <a:bodyPr wrap="square" lIns="0" tIns="0" rIns="0" bIns="0" rtlCol="0" anchor="t">
            <a:spAutoFit/>
          </a:bodyPr>
          <a:lstStyle/>
          <a:p>
            <a:pPr marL="604518" lvl="1" indent="-302259" algn="ctr">
              <a:lnSpc>
                <a:spcPts val="3919"/>
              </a:lnSpc>
              <a:buFont typeface="Arial"/>
              <a:buChar char="•"/>
            </a:pPr>
            <a:r>
              <a:rPr lang="en-US" sz="2799" dirty="0">
                <a:solidFill>
                  <a:srgbClr val="000000"/>
                </a:solidFill>
                <a:latin typeface="Poppins Bold"/>
              </a:rPr>
              <a:t>This is the login page which gets showed when user runs try to predict</a:t>
            </a:r>
          </a:p>
        </p:txBody>
      </p:sp>
      <p:pic>
        <p:nvPicPr>
          <p:cNvPr id="1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36" t="8255"/>
          <a:stretch/>
        </p:blipFill>
        <p:spPr bwMode="auto">
          <a:xfrm>
            <a:off x="14125863" y="196578"/>
            <a:ext cx="3131234" cy="944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12">
            <a:extLst>
              <a:ext uri="{FF2B5EF4-FFF2-40B4-BE49-F238E27FC236}">
                <a16:creationId xmlns:a16="http://schemas.microsoft.com/office/drawing/2014/main" id="{0692FF16-729B-B2B1-53DD-DD9A0D5B146F}"/>
              </a:ext>
            </a:extLst>
          </p:cNvPr>
          <p:cNvPicPr>
            <a:picLocks noChangeAspect="1"/>
          </p:cNvPicPr>
          <p:nvPr/>
        </p:nvPicPr>
        <p:blipFill>
          <a:blip r:embed="rId3"/>
          <a:stretch>
            <a:fillRect/>
          </a:stretch>
        </p:blipFill>
        <p:spPr>
          <a:xfrm>
            <a:off x="3200400" y="2750013"/>
            <a:ext cx="11658600" cy="601653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15596" y="428774"/>
            <a:ext cx="7256808" cy="831964"/>
            <a:chOff x="0" y="0"/>
            <a:chExt cx="9675744" cy="1109285"/>
          </a:xfrm>
          <a:solidFill>
            <a:schemeClr val="accent1"/>
          </a:solidFill>
        </p:grpSpPr>
        <p:grpSp>
          <p:nvGrpSpPr>
            <p:cNvPr id="3" name="Group 3"/>
            <p:cNvGrpSpPr/>
            <p:nvPr/>
          </p:nvGrpSpPr>
          <p:grpSpPr>
            <a:xfrm>
              <a:off x="0" y="0"/>
              <a:ext cx="9675744" cy="1109285"/>
              <a:chOff x="0" y="0"/>
              <a:chExt cx="1911258" cy="219118"/>
            </a:xfrm>
            <a:grpFill/>
          </p:grpSpPr>
          <p:sp>
            <p:nvSpPr>
              <p:cNvPr id="4" name="Freeform 4"/>
              <p:cNvSpPr/>
              <p:nvPr/>
            </p:nvSpPr>
            <p:spPr>
              <a:xfrm>
                <a:off x="0" y="0"/>
                <a:ext cx="1911258" cy="219118"/>
              </a:xfrm>
              <a:custGeom>
                <a:avLst/>
                <a:gdLst/>
                <a:ahLst/>
                <a:cxnLst/>
                <a:rect l="l" t="t" r="r" b="b"/>
                <a:pathLst>
                  <a:path w="1911258" h="219118">
                    <a:moveTo>
                      <a:pt x="54409" y="0"/>
                    </a:moveTo>
                    <a:lnTo>
                      <a:pt x="1856849" y="0"/>
                    </a:lnTo>
                    <a:cubicBezTo>
                      <a:pt x="1886898" y="0"/>
                      <a:pt x="1911258" y="24360"/>
                      <a:pt x="1911258" y="54409"/>
                    </a:cubicBezTo>
                    <a:lnTo>
                      <a:pt x="1911258" y="164709"/>
                    </a:lnTo>
                    <a:cubicBezTo>
                      <a:pt x="1911258" y="194758"/>
                      <a:pt x="1886898" y="219118"/>
                      <a:pt x="1856849" y="219118"/>
                    </a:cubicBezTo>
                    <a:lnTo>
                      <a:pt x="54409" y="219118"/>
                    </a:lnTo>
                    <a:cubicBezTo>
                      <a:pt x="24360" y="219118"/>
                      <a:pt x="0" y="194758"/>
                      <a:pt x="0" y="164709"/>
                    </a:cubicBezTo>
                    <a:lnTo>
                      <a:pt x="0" y="54409"/>
                    </a:lnTo>
                    <a:cubicBezTo>
                      <a:pt x="0" y="24360"/>
                      <a:pt x="24360" y="0"/>
                      <a:pt x="54409" y="0"/>
                    </a:cubicBezTo>
                    <a:close/>
                  </a:path>
                </a:pathLst>
              </a:custGeom>
              <a:grpFill/>
            </p:spPr>
          </p:sp>
          <p:sp>
            <p:nvSpPr>
              <p:cNvPr id="5" name="TextBox 5"/>
              <p:cNvSpPr txBox="1"/>
              <p:nvPr/>
            </p:nvSpPr>
            <p:spPr>
              <a:xfrm>
                <a:off x="0" y="-19050"/>
                <a:ext cx="1911258" cy="238168"/>
              </a:xfrm>
              <a:prstGeom prst="rect">
                <a:avLst/>
              </a:prstGeom>
              <a:grpFill/>
            </p:spPr>
            <p:txBody>
              <a:bodyPr lIns="50800" tIns="50800" rIns="50800" bIns="50800" rtlCol="0" anchor="ctr"/>
              <a:lstStyle/>
              <a:p>
                <a:pPr algn="ctr">
                  <a:lnSpc>
                    <a:spcPts val="2098"/>
                  </a:lnSpc>
                </a:pPr>
                <a:endParaRPr/>
              </a:p>
            </p:txBody>
          </p:sp>
        </p:grpSp>
        <p:sp>
          <p:nvSpPr>
            <p:cNvPr id="6" name="TextBox 6"/>
            <p:cNvSpPr txBox="1"/>
            <p:nvPr/>
          </p:nvSpPr>
          <p:spPr>
            <a:xfrm>
              <a:off x="747543" y="38176"/>
              <a:ext cx="8180657" cy="918633"/>
            </a:xfrm>
            <a:prstGeom prst="rect">
              <a:avLst/>
            </a:prstGeom>
            <a:grpFill/>
          </p:spPr>
          <p:txBody>
            <a:bodyPr lIns="0" tIns="0" rIns="0" bIns="0" rtlCol="0" anchor="t">
              <a:spAutoFit/>
            </a:bodyPr>
            <a:lstStyle/>
            <a:p>
              <a:pPr algn="ctr">
                <a:lnSpc>
                  <a:spcPts val="5599"/>
                </a:lnSpc>
              </a:pPr>
              <a:r>
                <a:rPr lang="en-US" sz="3999">
                  <a:solidFill>
                    <a:srgbClr val="FFFFFF"/>
                  </a:solidFill>
                  <a:latin typeface="Poppins Bold"/>
                </a:rPr>
                <a:t>SCREENSHOTS</a:t>
              </a:r>
            </a:p>
          </p:txBody>
        </p:sp>
      </p:grpSp>
      <p:grpSp>
        <p:nvGrpSpPr>
          <p:cNvPr id="28" name="Group 8">
            <a:extLst>
              <a:ext uri="{FF2B5EF4-FFF2-40B4-BE49-F238E27FC236}">
                <a16:creationId xmlns:a16="http://schemas.microsoft.com/office/drawing/2014/main" id="{CE59C3A3-5941-F021-8A81-A34D5E1B722C}"/>
              </a:ext>
            </a:extLst>
          </p:cNvPr>
          <p:cNvGrpSpPr/>
          <p:nvPr/>
        </p:nvGrpSpPr>
        <p:grpSpPr>
          <a:xfrm>
            <a:off x="685800" y="1487419"/>
            <a:ext cx="4565125" cy="830915"/>
            <a:chOff x="0" y="0"/>
            <a:chExt cx="6086833" cy="1107886"/>
          </a:xfrm>
        </p:grpSpPr>
        <p:grpSp>
          <p:nvGrpSpPr>
            <p:cNvPr id="29" name="Group 9">
              <a:extLst>
                <a:ext uri="{FF2B5EF4-FFF2-40B4-BE49-F238E27FC236}">
                  <a16:creationId xmlns:a16="http://schemas.microsoft.com/office/drawing/2014/main" id="{A8BBE226-F703-A2DF-E0A6-CBAC84ADC3F6}"/>
                </a:ext>
              </a:extLst>
            </p:cNvPr>
            <p:cNvGrpSpPr/>
            <p:nvPr/>
          </p:nvGrpSpPr>
          <p:grpSpPr>
            <a:xfrm>
              <a:off x="0" y="0"/>
              <a:ext cx="6086833" cy="1107886"/>
              <a:chOff x="0" y="0"/>
              <a:chExt cx="1203855" cy="219118"/>
            </a:xfrm>
          </p:grpSpPr>
          <p:sp>
            <p:nvSpPr>
              <p:cNvPr id="31" name="Freeform 10">
                <a:extLst>
                  <a:ext uri="{FF2B5EF4-FFF2-40B4-BE49-F238E27FC236}">
                    <a16:creationId xmlns:a16="http://schemas.microsoft.com/office/drawing/2014/main" id="{196CFAFD-AEB2-EF0B-E4C2-0EC1AC36A8DF}"/>
                  </a:ext>
                </a:extLst>
              </p:cNvPr>
              <p:cNvSpPr/>
              <p:nvPr/>
            </p:nvSpPr>
            <p:spPr>
              <a:xfrm>
                <a:off x="0" y="0"/>
                <a:ext cx="1203855" cy="219118"/>
              </a:xfrm>
              <a:custGeom>
                <a:avLst/>
                <a:gdLst/>
                <a:ahLst/>
                <a:cxnLst/>
                <a:rect l="l" t="t" r="r" b="b"/>
                <a:pathLst>
                  <a:path w="1203855" h="219118">
                    <a:moveTo>
                      <a:pt x="86381" y="0"/>
                    </a:moveTo>
                    <a:lnTo>
                      <a:pt x="1117474" y="0"/>
                    </a:lnTo>
                    <a:cubicBezTo>
                      <a:pt x="1165181" y="0"/>
                      <a:pt x="1203855" y="38674"/>
                      <a:pt x="1203855" y="86381"/>
                    </a:cubicBezTo>
                    <a:lnTo>
                      <a:pt x="1203855" y="132737"/>
                    </a:lnTo>
                    <a:cubicBezTo>
                      <a:pt x="1203855" y="180444"/>
                      <a:pt x="1165181" y="219118"/>
                      <a:pt x="1117474" y="219118"/>
                    </a:cubicBezTo>
                    <a:lnTo>
                      <a:pt x="86381" y="219118"/>
                    </a:lnTo>
                    <a:cubicBezTo>
                      <a:pt x="38674" y="219118"/>
                      <a:pt x="0" y="180444"/>
                      <a:pt x="0" y="132737"/>
                    </a:cubicBezTo>
                    <a:lnTo>
                      <a:pt x="0" y="86381"/>
                    </a:lnTo>
                    <a:cubicBezTo>
                      <a:pt x="0" y="38674"/>
                      <a:pt x="38674" y="0"/>
                      <a:pt x="86381" y="0"/>
                    </a:cubicBezTo>
                    <a:close/>
                  </a:path>
                </a:pathLst>
              </a:custGeom>
              <a:solidFill>
                <a:srgbClr val="004AAD"/>
              </a:solidFill>
            </p:spPr>
          </p:sp>
          <p:sp>
            <p:nvSpPr>
              <p:cNvPr id="32" name="TextBox 11">
                <a:extLst>
                  <a:ext uri="{FF2B5EF4-FFF2-40B4-BE49-F238E27FC236}">
                    <a16:creationId xmlns:a16="http://schemas.microsoft.com/office/drawing/2014/main" id="{EF4F6A32-E165-7567-5DC9-326DCA812230}"/>
                  </a:ext>
                </a:extLst>
              </p:cNvPr>
              <p:cNvSpPr txBox="1"/>
              <p:nvPr/>
            </p:nvSpPr>
            <p:spPr>
              <a:xfrm>
                <a:off x="0" y="-19050"/>
                <a:ext cx="1203855" cy="238168"/>
              </a:xfrm>
              <a:prstGeom prst="rect">
                <a:avLst/>
              </a:prstGeom>
            </p:spPr>
            <p:txBody>
              <a:bodyPr lIns="50800" tIns="50800" rIns="50800" bIns="50800" rtlCol="0" anchor="ctr"/>
              <a:lstStyle/>
              <a:p>
                <a:pPr>
                  <a:lnSpc>
                    <a:spcPts val="2098"/>
                  </a:lnSpc>
                </a:pPr>
                <a:endParaRPr/>
              </a:p>
            </p:txBody>
          </p:sp>
        </p:grpSp>
        <p:sp>
          <p:nvSpPr>
            <p:cNvPr id="30" name="TextBox 12">
              <a:extLst>
                <a:ext uri="{FF2B5EF4-FFF2-40B4-BE49-F238E27FC236}">
                  <a16:creationId xmlns:a16="http://schemas.microsoft.com/office/drawing/2014/main" id="{2B7355F1-0A55-5EFC-7967-668960605167}"/>
                </a:ext>
              </a:extLst>
            </p:cNvPr>
            <p:cNvSpPr txBox="1"/>
            <p:nvPr/>
          </p:nvSpPr>
          <p:spPr>
            <a:xfrm>
              <a:off x="470266" y="37983"/>
              <a:ext cx="5146301" cy="917619"/>
            </a:xfrm>
            <a:prstGeom prst="rect">
              <a:avLst/>
            </a:prstGeom>
          </p:spPr>
          <p:txBody>
            <a:bodyPr lIns="0" tIns="0" rIns="0" bIns="0" rtlCol="0" anchor="t">
              <a:spAutoFit/>
            </a:bodyPr>
            <a:lstStyle/>
            <a:p>
              <a:pPr algn="ctr">
                <a:lnSpc>
                  <a:spcPts val="5592"/>
                </a:lnSpc>
              </a:pPr>
              <a:r>
                <a:rPr lang="en-US" sz="3994" dirty="0">
                  <a:solidFill>
                    <a:srgbClr val="FFFFFF"/>
                  </a:solidFill>
                  <a:latin typeface="Poppins Bold"/>
                </a:rPr>
                <a:t>HOME PAGE </a:t>
              </a:r>
            </a:p>
          </p:txBody>
        </p:sp>
      </p:grpSp>
      <p:pic>
        <p:nvPicPr>
          <p:cNvPr id="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36" t="8255"/>
          <a:stretch/>
        </p:blipFill>
        <p:spPr bwMode="auto">
          <a:xfrm>
            <a:off x="14125863" y="196578"/>
            <a:ext cx="3131234" cy="944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a:extLst>
              <a:ext uri="{FF2B5EF4-FFF2-40B4-BE49-F238E27FC236}">
                <a16:creationId xmlns:a16="http://schemas.microsoft.com/office/drawing/2014/main" id="{5136FAD8-2FB2-9BCC-3F3F-30BEDE2BA7F3}"/>
              </a:ext>
            </a:extLst>
          </p:cNvPr>
          <p:cNvPicPr>
            <a:picLocks noChangeAspect="1"/>
          </p:cNvPicPr>
          <p:nvPr/>
        </p:nvPicPr>
        <p:blipFill>
          <a:blip r:embed="rId3"/>
          <a:stretch>
            <a:fillRect/>
          </a:stretch>
        </p:blipFill>
        <p:spPr>
          <a:xfrm>
            <a:off x="2514600" y="2848546"/>
            <a:ext cx="13563600" cy="698104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89AA4346-34E4-7274-AC8E-09513CB99086}"/>
              </a:ext>
            </a:extLst>
          </p:cNvPr>
          <p:cNvGrpSpPr/>
          <p:nvPr/>
        </p:nvGrpSpPr>
        <p:grpSpPr>
          <a:xfrm>
            <a:off x="5515596" y="428774"/>
            <a:ext cx="7256808" cy="831964"/>
            <a:chOff x="0" y="0"/>
            <a:chExt cx="9675744" cy="1109285"/>
          </a:xfrm>
          <a:solidFill>
            <a:schemeClr val="accent1"/>
          </a:solidFill>
        </p:grpSpPr>
        <p:grpSp>
          <p:nvGrpSpPr>
            <p:cNvPr id="3" name="Group 3">
              <a:extLst>
                <a:ext uri="{FF2B5EF4-FFF2-40B4-BE49-F238E27FC236}">
                  <a16:creationId xmlns:a16="http://schemas.microsoft.com/office/drawing/2014/main" id="{A7CBAFB3-E819-A648-254E-A13007BEF4F0}"/>
                </a:ext>
              </a:extLst>
            </p:cNvPr>
            <p:cNvGrpSpPr/>
            <p:nvPr/>
          </p:nvGrpSpPr>
          <p:grpSpPr>
            <a:xfrm>
              <a:off x="0" y="0"/>
              <a:ext cx="9675744" cy="1109285"/>
              <a:chOff x="0" y="0"/>
              <a:chExt cx="1911258" cy="219118"/>
            </a:xfrm>
            <a:grpFill/>
          </p:grpSpPr>
          <p:sp>
            <p:nvSpPr>
              <p:cNvPr id="5" name="Freeform 4">
                <a:extLst>
                  <a:ext uri="{FF2B5EF4-FFF2-40B4-BE49-F238E27FC236}">
                    <a16:creationId xmlns:a16="http://schemas.microsoft.com/office/drawing/2014/main" id="{D2384905-81DF-DF88-0E8B-CABF84A3B54F}"/>
                  </a:ext>
                </a:extLst>
              </p:cNvPr>
              <p:cNvSpPr/>
              <p:nvPr/>
            </p:nvSpPr>
            <p:spPr>
              <a:xfrm>
                <a:off x="0" y="0"/>
                <a:ext cx="1911258" cy="219118"/>
              </a:xfrm>
              <a:custGeom>
                <a:avLst/>
                <a:gdLst/>
                <a:ahLst/>
                <a:cxnLst/>
                <a:rect l="l" t="t" r="r" b="b"/>
                <a:pathLst>
                  <a:path w="1911258" h="219118">
                    <a:moveTo>
                      <a:pt x="54409" y="0"/>
                    </a:moveTo>
                    <a:lnTo>
                      <a:pt x="1856849" y="0"/>
                    </a:lnTo>
                    <a:cubicBezTo>
                      <a:pt x="1886898" y="0"/>
                      <a:pt x="1911258" y="24360"/>
                      <a:pt x="1911258" y="54409"/>
                    </a:cubicBezTo>
                    <a:lnTo>
                      <a:pt x="1911258" y="164709"/>
                    </a:lnTo>
                    <a:cubicBezTo>
                      <a:pt x="1911258" y="194758"/>
                      <a:pt x="1886898" y="219118"/>
                      <a:pt x="1856849" y="219118"/>
                    </a:cubicBezTo>
                    <a:lnTo>
                      <a:pt x="54409" y="219118"/>
                    </a:lnTo>
                    <a:cubicBezTo>
                      <a:pt x="24360" y="219118"/>
                      <a:pt x="0" y="194758"/>
                      <a:pt x="0" y="164709"/>
                    </a:cubicBezTo>
                    <a:lnTo>
                      <a:pt x="0" y="54409"/>
                    </a:lnTo>
                    <a:cubicBezTo>
                      <a:pt x="0" y="24360"/>
                      <a:pt x="24360" y="0"/>
                      <a:pt x="54409" y="0"/>
                    </a:cubicBezTo>
                    <a:close/>
                  </a:path>
                </a:pathLst>
              </a:custGeom>
              <a:grpFill/>
            </p:spPr>
          </p:sp>
          <p:sp>
            <p:nvSpPr>
              <p:cNvPr id="6" name="TextBox 5">
                <a:extLst>
                  <a:ext uri="{FF2B5EF4-FFF2-40B4-BE49-F238E27FC236}">
                    <a16:creationId xmlns:a16="http://schemas.microsoft.com/office/drawing/2014/main" id="{FDAF1841-B0C2-B0E3-9BB7-8012BBDADAD6}"/>
                  </a:ext>
                </a:extLst>
              </p:cNvPr>
              <p:cNvSpPr txBox="1"/>
              <p:nvPr/>
            </p:nvSpPr>
            <p:spPr>
              <a:xfrm>
                <a:off x="0" y="-19050"/>
                <a:ext cx="1911258" cy="238168"/>
              </a:xfrm>
              <a:prstGeom prst="rect">
                <a:avLst/>
              </a:prstGeom>
              <a:grpFill/>
            </p:spPr>
            <p:txBody>
              <a:bodyPr lIns="50800" tIns="50800" rIns="50800" bIns="50800" rtlCol="0" anchor="ctr"/>
              <a:lstStyle/>
              <a:p>
                <a:pPr algn="ctr">
                  <a:lnSpc>
                    <a:spcPts val="2098"/>
                  </a:lnSpc>
                </a:pPr>
                <a:endParaRPr/>
              </a:p>
            </p:txBody>
          </p:sp>
        </p:grpSp>
        <p:sp>
          <p:nvSpPr>
            <p:cNvPr id="4" name="TextBox 6">
              <a:extLst>
                <a:ext uri="{FF2B5EF4-FFF2-40B4-BE49-F238E27FC236}">
                  <a16:creationId xmlns:a16="http://schemas.microsoft.com/office/drawing/2014/main" id="{0435DDCF-F1DB-70B1-2CE1-09CAD6E40E6B}"/>
                </a:ext>
              </a:extLst>
            </p:cNvPr>
            <p:cNvSpPr txBox="1"/>
            <p:nvPr/>
          </p:nvSpPr>
          <p:spPr>
            <a:xfrm>
              <a:off x="747543" y="38176"/>
              <a:ext cx="8180657" cy="918633"/>
            </a:xfrm>
            <a:prstGeom prst="rect">
              <a:avLst/>
            </a:prstGeom>
            <a:grpFill/>
          </p:spPr>
          <p:txBody>
            <a:bodyPr lIns="0" tIns="0" rIns="0" bIns="0" rtlCol="0" anchor="t">
              <a:spAutoFit/>
            </a:bodyPr>
            <a:lstStyle/>
            <a:p>
              <a:pPr algn="ctr">
                <a:lnSpc>
                  <a:spcPts val="5599"/>
                </a:lnSpc>
              </a:pPr>
              <a:r>
                <a:rPr lang="en-US" sz="3999">
                  <a:solidFill>
                    <a:srgbClr val="FFFFFF"/>
                  </a:solidFill>
                  <a:latin typeface="Poppins Bold"/>
                </a:rPr>
                <a:t>SCREENSHOTS</a:t>
              </a:r>
            </a:p>
          </p:txBody>
        </p:sp>
      </p:grpSp>
      <p:grpSp>
        <p:nvGrpSpPr>
          <p:cNvPr id="9" name="Group 8">
            <a:extLst>
              <a:ext uri="{FF2B5EF4-FFF2-40B4-BE49-F238E27FC236}">
                <a16:creationId xmlns:a16="http://schemas.microsoft.com/office/drawing/2014/main" id="{9EFF4E17-7072-898C-9856-14A09DFEAD00}"/>
              </a:ext>
            </a:extLst>
          </p:cNvPr>
          <p:cNvGrpSpPr/>
          <p:nvPr/>
        </p:nvGrpSpPr>
        <p:grpSpPr>
          <a:xfrm>
            <a:off x="685800" y="1487419"/>
            <a:ext cx="4565125" cy="830915"/>
            <a:chOff x="0" y="0"/>
            <a:chExt cx="6086833" cy="1107886"/>
          </a:xfrm>
        </p:grpSpPr>
        <p:grpSp>
          <p:nvGrpSpPr>
            <p:cNvPr id="10" name="Group 9">
              <a:extLst>
                <a:ext uri="{FF2B5EF4-FFF2-40B4-BE49-F238E27FC236}">
                  <a16:creationId xmlns:a16="http://schemas.microsoft.com/office/drawing/2014/main" id="{977722B7-1E1F-7B06-B1CB-3C49E98EE58C}"/>
                </a:ext>
              </a:extLst>
            </p:cNvPr>
            <p:cNvGrpSpPr/>
            <p:nvPr/>
          </p:nvGrpSpPr>
          <p:grpSpPr>
            <a:xfrm>
              <a:off x="0" y="0"/>
              <a:ext cx="6086833" cy="1107886"/>
              <a:chOff x="0" y="0"/>
              <a:chExt cx="1203855" cy="219118"/>
            </a:xfrm>
          </p:grpSpPr>
          <p:sp>
            <p:nvSpPr>
              <p:cNvPr id="12" name="Freeform 10">
                <a:extLst>
                  <a:ext uri="{FF2B5EF4-FFF2-40B4-BE49-F238E27FC236}">
                    <a16:creationId xmlns:a16="http://schemas.microsoft.com/office/drawing/2014/main" id="{EE3F140C-07A5-AAF5-6F06-51A0EEE58D5B}"/>
                  </a:ext>
                </a:extLst>
              </p:cNvPr>
              <p:cNvSpPr/>
              <p:nvPr/>
            </p:nvSpPr>
            <p:spPr>
              <a:xfrm>
                <a:off x="0" y="0"/>
                <a:ext cx="1203855" cy="219118"/>
              </a:xfrm>
              <a:custGeom>
                <a:avLst/>
                <a:gdLst/>
                <a:ahLst/>
                <a:cxnLst/>
                <a:rect l="l" t="t" r="r" b="b"/>
                <a:pathLst>
                  <a:path w="1203855" h="219118">
                    <a:moveTo>
                      <a:pt x="86381" y="0"/>
                    </a:moveTo>
                    <a:lnTo>
                      <a:pt x="1117474" y="0"/>
                    </a:lnTo>
                    <a:cubicBezTo>
                      <a:pt x="1165181" y="0"/>
                      <a:pt x="1203855" y="38674"/>
                      <a:pt x="1203855" y="86381"/>
                    </a:cubicBezTo>
                    <a:lnTo>
                      <a:pt x="1203855" y="132737"/>
                    </a:lnTo>
                    <a:cubicBezTo>
                      <a:pt x="1203855" y="180444"/>
                      <a:pt x="1165181" y="219118"/>
                      <a:pt x="1117474" y="219118"/>
                    </a:cubicBezTo>
                    <a:lnTo>
                      <a:pt x="86381" y="219118"/>
                    </a:lnTo>
                    <a:cubicBezTo>
                      <a:pt x="38674" y="219118"/>
                      <a:pt x="0" y="180444"/>
                      <a:pt x="0" y="132737"/>
                    </a:cubicBezTo>
                    <a:lnTo>
                      <a:pt x="0" y="86381"/>
                    </a:lnTo>
                    <a:cubicBezTo>
                      <a:pt x="0" y="38674"/>
                      <a:pt x="38674" y="0"/>
                      <a:pt x="86381" y="0"/>
                    </a:cubicBezTo>
                    <a:close/>
                  </a:path>
                </a:pathLst>
              </a:custGeom>
              <a:solidFill>
                <a:srgbClr val="004AAD"/>
              </a:solidFill>
            </p:spPr>
          </p:sp>
          <p:sp>
            <p:nvSpPr>
              <p:cNvPr id="13" name="TextBox 11">
                <a:extLst>
                  <a:ext uri="{FF2B5EF4-FFF2-40B4-BE49-F238E27FC236}">
                    <a16:creationId xmlns:a16="http://schemas.microsoft.com/office/drawing/2014/main" id="{FE15FDB2-9734-E733-BF55-FBDC024581B7}"/>
                  </a:ext>
                </a:extLst>
              </p:cNvPr>
              <p:cNvSpPr txBox="1"/>
              <p:nvPr/>
            </p:nvSpPr>
            <p:spPr>
              <a:xfrm>
                <a:off x="0" y="-19050"/>
                <a:ext cx="1203855" cy="238168"/>
              </a:xfrm>
              <a:prstGeom prst="rect">
                <a:avLst/>
              </a:prstGeom>
            </p:spPr>
            <p:txBody>
              <a:bodyPr lIns="50800" tIns="50800" rIns="50800" bIns="50800" rtlCol="0" anchor="ctr"/>
              <a:lstStyle/>
              <a:p>
                <a:pPr>
                  <a:lnSpc>
                    <a:spcPts val="2098"/>
                  </a:lnSpc>
                </a:pPr>
                <a:endParaRPr/>
              </a:p>
            </p:txBody>
          </p:sp>
        </p:grpSp>
        <p:sp>
          <p:nvSpPr>
            <p:cNvPr id="11" name="TextBox 12">
              <a:extLst>
                <a:ext uri="{FF2B5EF4-FFF2-40B4-BE49-F238E27FC236}">
                  <a16:creationId xmlns:a16="http://schemas.microsoft.com/office/drawing/2014/main" id="{22A31D68-87CD-C455-8BE1-88F1AF0DCE83}"/>
                </a:ext>
              </a:extLst>
            </p:cNvPr>
            <p:cNvSpPr txBox="1"/>
            <p:nvPr/>
          </p:nvSpPr>
          <p:spPr>
            <a:xfrm>
              <a:off x="470266" y="37983"/>
              <a:ext cx="5146301" cy="917619"/>
            </a:xfrm>
            <a:prstGeom prst="rect">
              <a:avLst/>
            </a:prstGeom>
          </p:spPr>
          <p:txBody>
            <a:bodyPr lIns="0" tIns="0" rIns="0" bIns="0" rtlCol="0" anchor="t">
              <a:spAutoFit/>
            </a:bodyPr>
            <a:lstStyle/>
            <a:p>
              <a:pPr algn="ctr">
                <a:lnSpc>
                  <a:spcPts val="5592"/>
                </a:lnSpc>
              </a:pPr>
              <a:r>
                <a:rPr lang="en-US" sz="3994" dirty="0">
                  <a:solidFill>
                    <a:srgbClr val="FFFFFF"/>
                  </a:solidFill>
                  <a:latin typeface="Poppins Bold"/>
                </a:rPr>
                <a:t>DATASET</a:t>
              </a:r>
            </a:p>
          </p:txBody>
        </p:sp>
      </p:grpSp>
      <p:pic>
        <p:nvPicPr>
          <p:cNvPr id="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36" t="8255"/>
          <a:stretch/>
        </p:blipFill>
        <p:spPr bwMode="auto">
          <a:xfrm>
            <a:off x="14125863" y="196578"/>
            <a:ext cx="3131234" cy="944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a:extLst>
              <a:ext uri="{FF2B5EF4-FFF2-40B4-BE49-F238E27FC236}">
                <a16:creationId xmlns:a16="http://schemas.microsoft.com/office/drawing/2014/main" id="{ACB44E3A-B2D4-67A2-38C1-9736D9B27AC7}"/>
              </a:ext>
            </a:extLst>
          </p:cNvPr>
          <p:cNvPicPr>
            <a:picLocks noChangeAspect="1"/>
          </p:cNvPicPr>
          <p:nvPr/>
        </p:nvPicPr>
        <p:blipFill>
          <a:blip r:embed="rId3"/>
          <a:stretch>
            <a:fillRect/>
          </a:stretch>
        </p:blipFill>
        <p:spPr>
          <a:xfrm>
            <a:off x="2133600" y="2609530"/>
            <a:ext cx="14352421" cy="7301976"/>
          </a:xfrm>
          <a:prstGeom prst="rect">
            <a:avLst/>
          </a:prstGeom>
        </p:spPr>
      </p:pic>
    </p:spTree>
    <p:extLst>
      <p:ext uri="{BB962C8B-B14F-4D97-AF65-F5344CB8AC3E}">
        <p14:creationId xmlns:p14="http://schemas.microsoft.com/office/powerpoint/2010/main" val="1662647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AFE22-D05A-1853-1D24-89DD0C5910E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D03FEF7-741B-FAF3-DE3A-717E884C5611}"/>
              </a:ext>
            </a:extLst>
          </p:cNvPr>
          <p:cNvGrpSpPr/>
          <p:nvPr/>
        </p:nvGrpSpPr>
        <p:grpSpPr>
          <a:xfrm>
            <a:off x="5515596" y="428774"/>
            <a:ext cx="7256808" cy="831964"/>
            <a:chOff x="0" y="0"/>
            <a:chExt cx="9675744" cy="1109285"/>
          </a:xfrm>
          <a:solidFill>
            <a:schemeClr val="accent1"/>
          </a:solidFill>
        </p:grpSpPr>
        <p:grpSp>
          <p:nvGrpSpPr>
            <p:cNvPr id="3" name="Group 3">
              <a:extLst>
                <a:ext uri="{FF2B5EF4-FFF2-40B4-BE49-F238E27FC236}">
                  <a16:creationId xmlns:a16="http://schemas.microsoft.com/office/drawing/2014/main" id="{49A75A9A-4174-A21F-F9AE-D3EEAE2E45EE}"/>
                </a:ext>
              </a:extLst>
            </p:cNvPr>
            <p:cNvGrpSpPr/>
            <p:nvPr/>
          </p:nvGrpSpPr>
          <p:grpSpPr>
            <a:xfrm>
              <a:off x="0" y="0"/>
              <a:ext cx="9675744" cy="1109285"/>
              <a:chOff x="0" y="0"/>
              <a:chExt cx="1911258" cy="219118"/>
            </a:xfrm>
            <a:grpFill/>
          </p:grpSpPr>
          <p:sp>
            <p:nvSpPr>
              <p:cNvPr id="5" name="Freeform 4">
                <a:extLst>
                  <a:ext uri="{FF2B5EF4-FFF2-40B4-BE49-F238E27FC236}">
                    <a16:creationId xmlns:a16="http://schemas.microsoft.com/office/drawing/2014/main" id="{9B8AA5F8-8364-6448-210C-11AC14660E53}"/>
                  </a:ext>
                </a:extLst>
              </p:cNvPr>
              <p:cNvSpPr/>
              <p:nvPr/>
            </p:nvSpPr>
            <p:spPr>
              <a:xfrm>
                <a:off x="0" y="0"/>
                <a:ext cx="1911258" cy="219118"/>
              </a:xfrm>
              <a:custGeom>
                <a:avLst/>
                <a:gdLst/>
                <a:ahLst/>
                <a:cxnLst/>
                <a:rect l="l" t="t" r="r" b="b"/>
                <a:pathLst>
                  <a:path w="1911258" h="219118">
                    <a:moveTo>
                      <a:pt x="54409" y="0"/>
                    </a:moveTo>
                    <a:lnTo>
                      <a:pt x="1856849" y="0"/>
                    </a:lnTo>
                    <a:cubicBezTo>
                      <a:pt x="1886898" y="0"/>
                      <a:pt x="1911258" y="24360"/>
                      <a:pt x="1911258" y="54409"/>
                    </a:cubicBezTo>
                    <a:lnTo>
                      <a:pt x="1911258" y="164709"/>
                    </a:lnTo>
                    <a:cubicBezTo>
                      <a:pt x="1911258" y="194758"/>
                      <a:pt x="1886898" y="219118"/>
                      <a:pt x="1856849" y="219118"/>
                    </a:cubicBezTo>
                    <a:lnTo>
                      <a:pt x="54409" y="219118"/>
                    </a:lnTo>
                    <a:cubicBezTo>
                      <a:pt x="24360" y="219118"/>
                      <a:pt x="0" y="194758"/>
                      <a:pt x="0" y="164709"/>
                    </a:cubicBezTo>
                    <a:lnTo>
                      <a:pt x="0" y="54409"/>
                    </a:lnTo>
                    <a:cubicBezTo>
                      <a:pt x="0" y="24360"/>
                      <a:pt x="24360" y="0"/>
                      <a:pt x="54409" y="0"/>
                    </a:cubicBezTo>
                    <a:close/>
                  </a:path>
                </a:pathLst>
              </a:custGeom>
              <a:grpFill/>
            </p:spPr>
          </p:sp>
          <p:sp>
            <p:nvSpPr>
              <p:cNvPr id="6" name="TextBox 5">
                <a:extLst>
                  <a:ext uri="{FF2B5EF4-FFF2-40B4-BE49-F238E27FC236}">
                    <a16:creationId xmlns:a16="http://schemas.microsoft.com/office/drawing/2014/main" id="{E6354B17-A678-33A0-84DE-88F8DB5C95D4}"/>
                  </a:ext>
                </a:extLst>
              </p:cNvPr>
              <p:cNvSpPr txBox="1"/>
              <p:nvPr/>
            </p:nvSpPr>
            <p:spPr>
              <a:xfrm>
                <a:off x="0" y="-19050"/>
                <a:ext cx="1911258" cy="238168"/>
              </a:xfrm>
              <a:prstGeom prst="rect">
                <a:avLst/>
              </a:prstGeom>
              <a:grpFill/>
            </p:spPr>
            <p:txBody>
              <a:bodyPr lIns="50800" tIns="50800" rIns="50800" bIns="50800" rtlCol="0" anchor="ctr"/>
              <a:lstStyle/>
              <a:p>
                <a:pPr algn="ctr">
                  <a:lnSpc>
                    <a:spcPts val="2098"/>
                  </a:lnSpc>
                </a:pPr>
                <a:endParaRPr/>
              </a:p>
            </p:txBody>
          </p:sp>
        </p:grpSp>
        <p:sp>
          <p:nvSpPr>
            <p:cNvPr id="4" name="TextBox 6">
              <a:extLst>
                <a:ext uri="{FF2B5EF4-FFF2-40B4-BE49-F238E27FC236}">
                  <a16:creationId xmlns:a16="http://schemas.microsoft.com/office/drawing/2014/main" id="{E3B8B73B-0143-986E-8DE6-F18FE2FE4681}"/>
                </a:ext>
              </a:extLst>
            </p:cNvPr>
            <p:cNvSpPr txBox="1"/>
            <p:nvPr/>
          </p:nvSpPr>
          <p:spPr>
            <a:xfrm>
              <a:off x="747543" y="38176"/>
              <a:ext cx="8180657" cy="918633"/>
            </a:xfrm>
            <a:prstGeom prst="rect">
              <a:avLst/>
            </a:prstGeom>
            <a:grpFill/>
          </p:spPr>
          <p:txBody>
            <a:bodyPr lIns="0" tIns="0" rIns="0" bIns="0" rtlCol="0" anchor="t">
              <a:spAutoFit/>
            </a:bodyPr>
            <a:lstStyle/>
            <a:p>
              <a:pPr algn="ctr">
                <a:lnSpc>
                  <a:spcPts val="5599"/>
                </a:lnSpc>
              </a:pPr>
              <a:r>
                <a:rPr lang="en-US" sz="3999">
                  <a:solidFill>
                    <a:srgbClr val="FFFFFF"/>
                  </a:solidFill>
                  <a:latin typeface="Poppins Bold"/>
                </a:rPr>
                <a:t>SCREENSHOTS</a:t>
              </a:r>
            </a:p>
          </p:txBody>
        </p:sp>
      </p:grpSp>
      <p:grpSp>
        <p:nvGrpSpPr>
          <p:cNvPr id="9" name="Group 8">
            <a:extLst>
              <a:ext uri="{FF2B5EF4-FFF2-40B4-BE49-F238E27FC236}">
                <a16:creationId xmlns:a16="http://schemas.microsoft.com/office/drawing/2014/main" id="{C58ECA38-A7F6-0BD9-26D2-67EB2863BADA}"/>
              </a:ext>
            </a:extLst>
          </p:cNvPr>
          <p:cNvGrpSpPr/>
          <p:nvPr/>
        </p:nvGrpSpPr>
        <p:grpSpPr>
          <a:xfrm>
            <a:off x="685800" y="1487419"/>
            <a:ext cx="4565125" cy="830915"/>
            <a:chOff x="0" y="0"/>
            <a:chExt cx="6086833" cy="1107886"/>
          </a:xfrm>
        </p:grpSpPr>
        <p:grpSp>
          <p:nvGrpSpPr>
            <p:cNvPr id="10" name="Group 9">
              <a:extLst>
                <a:ext uri="{FF2B5EF4-FFF2-40B4-BE49-F238E27FC236}">
                  <a16:creationId xmlns:a16="http://schemas.microsoft.com/office/drawing/2014/main" id="{259E802D-6C81-5B81-A0AB-339E650FF936}"/>
                </a:ext>
              </a:extLst>
            </p:cNvPr>
            <p:cNvGrpSpPr/>
            <p:nvPr/>
          </p:nvGrpSpPr>
          <p:grpSpPr>
            <a:xfrm>
              <a:off x="0" y="0"/>
              <a:ext cx="6086833" cy="1107886"/>
              <a:chOff x="0" y="0"/>
              <a:chExt cx="1203855" cy="219118"/>
            </a:xfrm>
          </p:grpSpPr>
          <p:sp>
            <p:nvSpPr>
              <p:cNvPr id="12" name="Freeform 10">
                <a:extLst>
                  <a:ext uri="{FF2B5EF4-FFF2-40B4-BE49-F238E27FC236}">
                    <a16:creationId xmlns:a16="http://schemas.microsoft.com/office/drawing/2014/main" id="{7FD341BC-EDB5-44FB-FB4D-DBF044B9EC73}"/>
                  </a:ext>
                </a:extLst>
              </p:cNvPr>
              <p:cNvSpPr/>
              <p:nvPr/>
            </p:nvSpPr>
            <p:spPr>
              <a:xfrm>
                <a:off x="0" y="0"/>
                <a:ext cx="1203855" cy="219118"/>
              </a:xfrm>
              <a:custGeom>
                <a:avLst/>
                <a:gdLst/>
                <a:ahLst/>
                <a:cxnLst/>
                <a:rect l="l" t="t" r="r" b="b"/>
                <a:pathLst>
                  <a:path w="1203855" h="219118">
                    <a:moveTo>
                      <a:pt x="86381" y="0"/>
                    </a:moveTo>
                    <a:lnTo>
                      <a:pt x="1117474" y="0"/>
                    </a:lnTo>
                    <a:cubicBezTo>
                      <a:pt x="1165181" y="0"/>
                      <a:pt x="1203855" y="38674"/>
                      <a:pt x="1203855" y="86381"/>
                    </a:cubicBezTo>
                    <a:lnTo>
                      <a:pt x="1203855" y="132737"/>
                    </a:lnTo>
                    <a:cubicBezTo>
                      <a:pt x="1203855" y="180444"/>
                      <a:pt x="1165181" y="219118"/>
                      <a:pt x="1117474" y="219118"/>
                    </a:cubicBezTo>
                    <a:lnTo>
                      <a:pt x="86381" y="219118"/>
                    </a:lnTo>
                    <a:cubicBezTo>
                      <a:pt x="38674" y="219118"/>
                      <a:pt x="0" y="180444"/>
                      <a:pt x="0" y="132737"/>
                    </a:cubicBezTo>
                    <a:lnTo>
                      <a:pt x="0" y="86381"/>
                    </a:lnTo>
                    <a:cubicBezTo>
                      <a:pt x="0" y="38674"/>
                      <a:pt x="38674" y="0"/>
                      <a:pt x="86381" y="0"/>
                    </a:cubicBezTo>
                    <a:close/>
                  </a:path>
                </a:pathLst>
              </a:custGeom>
              <a:solidFill>
                <a:srgbClr val="004AAD"/>
              </a:solidFill>
            </p:spPr>
          </p:sp>
          <p:sp>
            <p:nvSpPr>
              <p:cNvPr id="13" name="TextBox 11">
                <a:extLst>
                  <a:ext uri="{FF2B5EF4-FFF2-40B4-BE49-F238E27FC236}">
                    <a16:creationId xmlns:a16="http://schemas.microsoft.com/office/drawing/2014/main" id="{8F7A9436-C16A-5E0E-AE8D-5EA34600BB49}"/>
                  </a:ext>
                </a:extLst>
              </p:cNvPr>
              <p:cNvSpPr txBox="1"/>
              <p:nvPr/>
            </p:nvSpPr>
            <p:spPr>
              <a:xfrm>
                <a:off x="0" y="-19050"/>
                <a:ext cx="1203855" cy="238168"/>
              </a:xfrm>
              <a:prstGeom prst="rect">
                <a:avLst/>
              </a:prstGeom>
            </p:spPr>
            <p:txBody>
              <a:bodyPr lIns="50800" tIns="50800" rIns="50800" bIns="50800" rtlCol="0" anchor="ctr"/>
              <a:lstStyle/>
              <a:p>
                <a:pPr>
                  <a:lnSpc>
                    <a:spcPts val="2098"/>
                  </a:lnSpc>
                </a:pPr>
                <a:endParaRPr/>
              </a:p>
            </p:txBody>
          </p:sp>
        </p:grpSp>
        <p:sp>
          <p:nvSpPr>
            <p:cNvPr id="11" name="TextBox 12">
              <a:extLst>
                <a:ext uri="{FF2B5EF4-FFF2-40B4-BE49-F238E27FC236}">
                  <a16:creationId xmlns:a16="http://schemas.microsoft.com/office/drawing/2014/main" id="{ECB4832A-7E46-D1A9-905A-9C72140C5857}"/>
                </a:ext>
              </a:extLst>
            </p:cNvPr>
            <p:cNvSpPr txBox="1"/>
            <p:nvPr/>
          </p:nvSpPr>
          <p:spPr>
            <a:xfrm>
              <a:off x="470266" y="37983"/>
              <a:ext cx="5146301" cy="917619"/>
            </a:xfrm>
            <a:prstGeom prst="rect">
              <a:avLst/>
            </a:prstGeom>
          </p:spPr>
          <p:txBody>
            <a:bodyPr lIns="0" tIns="0" rIns="0" bIns="0" rtlCol="0" anchor="t">
              <a:spAutoFit/>
            </a:bodyPr>
            <a:lstStyle/>
            <a:p>
              <a:pPr algn="ctr">
                <a:lnSpc>
                  <a:spcPts val="5592"/>
                </a:lnSpc>
              </a:pPr>
              <a:r>
                <a:rPr lang="en-US" sz="3994" dirty="0">
                  <a:solidFill>
                    <a:srgbClr val="FFFFFF"/>
                  </a:solidFill>
                  <a:latin typeface="Poppins Bold"/>
                </a:rPr>
                <a:t>DATASET</a:t>
              </a:r>
            </a:p>
          </p:txBody>
        </p:sp>
      </p:grpSp>
      <p:pic>
        <p:nvPicPr>
          <p:cNvPr id="14" name="Picture 2">
            <a:extLst>
              <a:ext uri="{FF2B5EF4-FFF2-40B4-BE49-F238E27FC236}">
                <a16:creationId xmlns:a16="http://schemas.microsoft.com/office/drawing/2014/main" id="{771187F5-CFA4-82BF-2245-E54FFFDE629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36" t="8255"/>
          <a:stretch/>
        </p:blipFill>
        <p:spPr bwMode="auto">
          <a:xfrm>
            <a:off x="14125863" y="196578"/>
            <a:ext cx="3131234" cy="944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a:extLst>
              <a:ext uri="{FF2B5EF4-FFF2-40B4-BE49-F238E27FC236}">
                <a16:creationId xmlns:a16="http://schemas.microsoft.com/office/drawing/2014/main" id="{1E19B4DD-6DE9-2887-9C60-206C0EA76EC1}"/>
              </a:ext>
            </a:extLst>
          </p:cNvPr>
          <p:cNvPicPr>
            <a:picLocks noChangeAspect="1"/>
          </p:cNvPicPr>
          <p:nvPr/>
        </p:nvPicPr>
        <p:blipFill>
          <a:blip r:embed="rId3"/>
          <a:stretch>
            <a:fillRect/>
          </a:stretch>
        </p:blipFill>
        <p:spPr>
          <a:xfrm>
            <a:off x="1600200" y="2500583"/>
            <a:ext cx="14812623" cy="7429973"/>
          </a:xfrm>
          <a:prstGeom prst="rect">
            <a:avLst/>
          </a:prstGeom>
        </p:spPr>
      </p:pic>
    </p:spTree>
    <p:extLst>
      <p:ext uri="{BB962C8B-B14F-4D97-AF65-F5344CB8AC3E}">
        <p14:creationId xmlns:p14="http://schemas.microsoft.com/office/powerpoint/2010/main" val="4125888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496479" y="3591880"/>
            <a:ext cx="7210685" cy="1973231"/>
            <a:chOff x="0" y="0"/>
            <a:chExt cx="1705150" cy="466621"/>
          </a:xfrm>
          <a:solidFill>
            <a:schemeClr val="accent1">
              <a:lumMod val="75000"/>
            </a:schemeClr>
          </a:solidFill>
        </p:grpSpPr>
        <p:sp>
          <p:nvSpPr>
            <p:cNvPr id="3" name="Freeform 3"/>
            <p:cNvSpPr/>
            <p:nvPr/>
          </p:nvSpPr>
          <p:spPr>
            <a:xfrm>
              <a:off x="0" y="0"/>
              <a:ext cx="1705150" cy="466621"/>
            </a:xfrm>
            <a:custGeom>
              <a:avLst/>
              <a:gdLst/>
              <a:ahLst/>
              <a:cxnLst/>
              <a:rect l="l" t="t" r="r" b="b"/>
              <a:pathLst>
                <a:path w="1705150" h="466621">
                  <a:moveTo>
                    <a:pt x="54757" y="0"/>
                  </a:moveTo>
                  <a:lnTo>
                    <a:pt x="1650392" y="0"/>
                  </a:lnTo>
                  <a:cubicBezTo>
                    <a:pt x="1664915" y="0"/>
                    <a:pt x="1678842" y="5769"/>
                    <a:pt x="1689112" y="16038"/>
                  </a:cubicBezTo>
                  <a:cubicBezTo>
                    <a:pt x="1699381" y="26307"/>
                    <a:pt x="1705150" y="40235"/>
                    <a:pt x="1705150" y="54757"/>
                  </a:cubicBezTo>
                  <a:lnTo>
                    <a:pt x="1705150" y="411863"/>
                  </a:lnTo>
                  <a:cubicBezTo>
                    <a:pt x="1705150" y="426386"/>
                    <a:pt x="1699381" y="440314"/>
                    <a:pt x="1689112" y="450583"/>
                  </a:cubicBezTo>
                  <a:cubicBezTo>
                    <a:pt x="1678842" y="460852"/>
                    <a:pt x="1664915" y="466621"/>
                    <a:pt x="1650392" y="466621"/>
                  </a:cubicBezTo>
                  <a:lnTo>
                    <a:pt x="54757" y="466621"/>
                  </a:lnTo>
                  <a:cubicBezTo>
                    <a:pt x="24516" y="466621"/>
                    <a:pt x="0" y="442105"/>
                    <a:pt x="0" y="411863"/>
                  </a:cubicBezTo>
                  <a:lnTo>
                    <a:pt x="0" y="54757"/>
                  </a:lnTo>
                  <a:cubicBezTo>
                    <a:pt x="0" y="24516"/>
                    <a:pt x="24516" y="0"/>
                    <a:pt x="54757" y="0"/>
                  </a:cubicBezTo>
                  <a:close/>
                </a:path>
              </a:pathLst>
            </a:custGeom>
            <a:grpFill/>
          </p:spPr>
        </p:sp>
        <p:sp>
          <p:nvSpPr>
            <p:cNvPr id="4" name="TextBox 4"/>
            <p:cNvSpPr txBox="1"/>
            <p:nvPr/>
          </p:nvSpPr>
          <p:spPr>
            <a:xfrm>
              <a:off x="0" y="-19050"/>
              <a:ext cx="1705150" cy="485671"/>
            </a:xfrm>
            <a:prstGeom prst="rect">
              <a:avLst/>
            </a:prstGeom>
            <a:grpFill/>
          </p:spPr>
          <p:txBody>
            <a:bodyPr lIns="50800" tIns="50800" rIns="50800" bIns="50800" rtlCol="0" anchor="ctr"/>
            <a:lstStyle/>
            <a:p>
              <a:pPr algn="ctr">
                <a:lnSpc>
                  <a:spcPts val="2098"/>
                </a:lnSpc>
              </a:pPr>
              <a:endParaRPr/>
            </a:p>
          </p:txBody>
        </p:sp>
      </p:grpSp>
      <p:sp>
        <p:nvSpPr>
          <p:cNvPr id="15" name="TextBox 15"/>
          <p:cNvSpPr txBox="1"/>
          <p:nvPr/>
        </p:nvSpPr>
        <p:spPr>
          <a:xfrm>
            <a:off x="2252384" y="3201355"/>
            <a:ext cx="7818835" cy="2428696"/>
          </a:xfrm>
          <a:prstGeom prst="rect">
            <a:avLst/>
          </a:prstGeom>
        </p:spPr>
        <p:txBody>
          <a:bodyPr lIns="0" tIns="0" rIns="0" bIns="0" rtlCol="0" anchor="t">
            <a:spAutoFit/>
          </a:bodyPr>
          <a:lstStyle/>
          <a:p>
            <a:pPr algn="ctr">
              <a:lnSpc>
                <a:spcPts val="18920"/>
              </a:lnSpc>
            </a:pPr>
            <a:r>
              <a:rPr lang="en-US" sz="13514">
                <a:solidFill>
                  <a:srgbClr val="FFFFFF"/>
                </a:solidFill>
                <a:latin typeface="Poppins Bold"/>
              </a:rPr>
              <a:t>THANK</a:t>
            </a:r>
          </a:p>
        </p:txBody>
      </p:sp>
      <p:sp>
        <p:nvSpPr>
          <p:cNvPr id="16" name="TextBox 16"/>
          <p:cNvSpPr txBox="1"/>
          <p:nvPr/>
        </p:nvSpPr>
        <p:spPr>
          <a:xfrm>
            <a:off x="10071220" y="3159457"/>
            <a:ext cx="4672838" cy="2303066"/>
          </a:xfrm>
          <a:prstGeom prst="rect">
            <a:avLst/>
          </a:prstGeom>
        </p:spPr>
        <p:txBody>
          <a:bodyPr lIns="0" tIns="0" rIns="0" bIns="0" rtlCol="0" anchor="t">
            <a:spAutoFit/>
          </a:bodyPr>
          <a:lstStyle/>
          <a:p>
            <a:pPr algn="ctr">
              <a:lnSpc>
                <a:spcPts val="18920"/>
              </a:lnSpc>
            </a:pPr>
            <a:r>
              <a:rPr lang="en-US" sz="13514" dirty="0">
                <a:solidFill>
                  <a:schemeClr val="accent1"/>
                </a:solidFill>
                <a:latin typeface="Poppins Bold"/>
              </a:rPr>
              <a:t>YOU</a:t>
            </a:r>
          </a:p>
        </p:txBody>
      </p:sp>
      <p:sp>
        <p:nvSpPr>
          <p:cNvPr id="17" name="Freeform 17"/>
          <p:cNvSpPr/>
          <p:nvPr/>
        </p:nvSpPr>
        <p:spPr>
          <a:xfrm>
            <a:off x="16945774" y="9351184"/>
            <a:ext cx="1267710" cy="802847"/>
          </a:xfrm>
          <a:custGeom>
            <a:avLst/>
            <a:gdLst/>
            <a:ahLst/>
            <a:cxnLst/>
            <a:rect l="l" t="t" r="r" b="b"/>
            <a:pathLst>
              <a:path w="1267710" h="802847">
                <a:moveTo>
                  <a:pt x="0" y="0"/>
                </a:moveTo>
                <a:lnTo>
                  <a:pt x="1267711" y="0"/>
                </a:lnTo>
                <a:lnTo>
                  <a:pt x="1267711" y="802847"/>
                </a:lnTo>
                <a:lnTo>
                  <a:pt x="0" y="802847"/>
                </a:lnTo>
                <a:lnTo>
                  <a:pt x="0" y="0"/>
                </a:lnTo>
                <a:close/>
              </a:path>
            </a:pathLst>
          </a:custGeom>
          <a:blipFill>
            <a:blip r:embed="rId2"/>
            <a:stretch>
              <a:fillRect l="-5055" t="-36833" b="-29051"/>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699</TotalTime>
  <Words>982</Words>
  <Application>Microsoft Office PowerPoint</Application>
  <PresentationFormat>Custom</PresentationFormat>
  <Paragraphs>137</Paragraphs>
  <Slides>18</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18</vt:i4>
      </vt:variant>
    </vt:vector>
  </HeadingPairs>
  <TitlesOfParts>
    <vt:vector size="28" baseType="lpstr">
      <vt:lpstr>Wingdings</vt:lpstr>
      <vt:lpstr>Arial Unicode MS</vt:lpstr>
      <vt:lpstr>Calibri Light</vt:lpstr>
      <vt:lpstr>Calibri</vt:lpstr>
      <vt:lpstr>Poppins Bold</vt:lpstr>
      <vt:lpstr>Times New Roman</vt:lpstr>
      <vt:lpstr>Calibri (Body)</vt:lpstr>
      <vt:lpstr>Arial</vt:lpstr>
      <vt:lpstr>Office Theme</vt:lpstr>
      <vt:lpstr>1_Office Theme</vt:lpstr>
      <vt:lpstr>A Project abstract presentation  on A Deep Siamese Framework for Predicting Harmful Drug Interactions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A3_April_Presentation_LPPK</dc:title>
  <dc:creator>Bharath</dc:creator>
  <cp:lastModifiedBy>Bhavani Shankar S</cp:lastModifiedBy>
  <cp:revision>30</cp:revision>
  <dcterms:created xsi:type="dcterms:W3CDTF">2006-08-16T00:00:00Z</dcterms:created>
  <dcterms:modified xsi:type="dcterms:W3CDTF">2026-04-17T19:05:18Z</dcterms:modified>
  <dc:identifier>DAGBjlRTrLE</dc:identifier>
</cp:coreProperties>
</file>